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iUUb2Sr2kPjxidKvG/KBYULDuJ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67D238-C5F1-47CA-AF89-EB12D64B327F}">
  <a:tblStyle styleId="{C367D238-C5F1-47CA-AF89-EB12D64B327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3dfe8de3f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3dfe8de3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3dfe8de3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3dfe8de3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3dfe8de3f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3dfe8de3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3dfe8de3f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3dfe8de3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3dfe8de3f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3dfe8de3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3dfe8de3f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3dfe8de3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3dfe8de3f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3dfe8de3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3dfe8de3f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3dfe8de3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3dfe8de3f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3dfe8de3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3dfe8de3f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3dfe8de3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3dfe8de3f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3dfe8de3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3dfe8de3f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3dfe8de3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idx="1" type="body"/>
          </p:nvPr>
        </p:nvSpPr>
        <p:spPr>
          <a:xfrm>
            <a:off x="255350" y="455975"/>
            <a:ext cx="8700300" cy="59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Project Title: Dropout Risk Detection</a:t>
            </a:r>
            <a:endParaRPr b="1" sz="32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Student Name:</a:t>
            </a:r>
            <a:endParaRPr sz="2400"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Angel Xavier-01, 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Taanshu Babariya-03, 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Mariam Badure-04, 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Jaden Borges-08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 Batch: A1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Course: ML Mini Project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Guide Name: Dr. Joanne Gomes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Institute Name:St. Francis Institute of Technology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Motivation &amp; SDG Mapping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High student dropout rates affect academic success and institutional performance.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Early detection of at-risk students helps provide timely support and reduce dropouts.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ML-based prediction improves accuracy compared to manual monitoring.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302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•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Mapped SDGs: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2984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SDG 4 – Quality Education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(better retention &amp; learning outcomes)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984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–"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SDG 10 – Reduced Inequalities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 (supports vulnerable learners) </a:t>
            </a:r>
            <a:endParaRPr sz="3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Problem Statement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5450" lvl="0" marL="342900" rtl="0" algn="l">
              <a:spcBef>
                <a:spcPts val="480"/>
              </a:spcBef>
              <a:spcAft>
                <a:spcPts val="0"/>
              </a:spcAft>
              <a:buSzPts val="37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Many students drop out due to low performance and lack of engagement.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25450" lvl="0" marL="342900" rtl="0" algn="l">
              <a:spcBef>
                <a:spcPts val="480"/>
              </a:spcBef>
              <a:spcAft>
                <a:spcPts val="0"/>
              </a:spcAft>
              <a:buSzPts val="37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Institutes need a reliable way to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identify at-risk students early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25450" lvl="0" marL="342900" rtl="0" algn="l">
              <a:spcBef>
                <a:spcPts val="480"/>
              </a:spcBef>
              <a:spcAft>
                <a:spcPts val="0"/>
              </a:spcAft>
              <a:buSzPts val="37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This study focuses on using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student data + machine learning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to classify students as At-Risk/Not At-Risk.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25450" lvl="0" marL="342900" rtl="0" algn="l">
              <a:spcBef>
                <a:spcPts val="480"/>
              </a:spcBef>
              <a:spcAft>
                <a:spcPts val="0"/>
              </a:spcAft>
              <a:buSzPts val="37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Goal: build an accurate prediction model to support early intervention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3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Paper -1 Details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latin typeface="Arial"/>
                <a:ea typeface="Arial"/>
                <a:cs typeface="Arial"/>
                <a:sym typeface="Arial"/>
              </a:rPr>
              <a:t>Title:</a:t>
            </a:r>
            <a:br>
              <a:rPr b="1"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“Supervised Machine Learning Algorithms for Predicting Student Dropout and Academic Success: A Comparative Study”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Authors:</a:t>
            </a:r>
            <a:br>
              <a:rPr b="1"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Alice Villar &amp; Carolina Robledo Velini de Andrade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Arial"/>
                <a:ea typeface="Arial"/>
                <a:cs typeface="Arial"/>
                <a:sym typeface="Arial"/>
              </a:rPr>
              <a:t>Year of Publication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2024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Journal/Conference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1"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1900">
                <a:latin typeface="Arial"/>
                <a:ea typeface="Arial"/>
                <a:cs typeface="Arial"/>
                <a:sym typeface="Arial"/>
              </a:rPr>
              <a:t>Discover Artificial Intelligence (Springer)</a:t>
            </a:r>
            <a:endParaRPr i="1" sz="1900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457200" y="109526"/>
            <a:ext cx="82296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Introduction of Paper-1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457200" y="1140788"/>
            <a:ext cx="8229600" cy="5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Background Context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Student dropout prediction is important for improving academic performance and early interventions.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Machine Learning helps institutions identify “at-risk students” early.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Why the Problem Is Important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Dropout leads to poor career opportunities &amp; social challenges.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Early detection helps in timely support and personalized guidance.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Imbalanced datasets make prediction difficult.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Key Idea of the Paper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Compare several ML algorithms (supervised + unsupervised).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Address class imbalance using </a:t>
            </a: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SMOTE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ADASYN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Evaluate the performance of boosting algorithms like </a:t>
            </a: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XGBoost, CatBoost, LightGBM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Optuna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for hyperparameter tuning and </a:t>
            </a: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SHAP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for explainability.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Methodology of Paper-1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216000" y="945000"/>
            <a:ext cx="8470800" cy="58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1093"/>
              <a:buFont typeface="Arial"/>
              <a:buNone/>
            </a:pPr>
            <a:r>
              <a:rPr b="1" lang="en-US" sz="2153">
                <a:latin typeface="Arial"/>
                <a:ea typeface="Arial"/>
                <a:cs typeface="Arial"/>
                <a:sym typeface="Arial"/>
              </a:rPr>
              <a:t>Dataset</a:t>
            </a:r>
            <a:endParaRPr b="1" sz="2153">
              <a:latin typeface="Arial"/>
              <a:ea typeface="Arial"/>
              <a:cs typeface="Arial"/>
              <a:sym typeface="Arial"/>
            </a:endParaRPr>
          </a:p>
          <a:p>
            <a:pPr indent="-33861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2038">
                <a:latin typeface="Arial"/>
                <a:ea typeface="Arial"/>
                <a:cs typeface="Arial"/>
                <a:sym typeface="Arial"/>
              </a:rPr>
              <a:t>Student data from Portuguese institute</a:t>
            </a:r>
            <a:endParaRPr sz="2038">
              <a:latin typeface="Arial"/>
              <a:ea typeface="Arial"/>
              <a:cs typeface="Arial"/>
              <a:sym typeface="Arial"/>
            </a:endParaRPr>
          </a:p>
          <a:p>
            <a:pPr indent="-33861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038">
                <a:latin typeface="Arial"/>
                <a:ea typeface="Arial"/>
                <a:cs typeface="Arial"/>
                <a:sym typeface="Arial"/>
              </a:rPr>
              <a:t>Features: demographic, academic, socio-economic</a:t>
            </a:r>
            <a:endParaRPr sz="2038">
              <a:latin typeface="Arial"/>
              <a:ea typeface="Arial"/>
              <a:cs typeface="Arial"/>
              <a:sym typeface="Arial"/>
            </a:endParaRPr>
          </a:p>
          <a:p>
            <a:pPr indent="-33861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038">
                <a:latin typeface="Arial"/>
                <a:ea typeface="Arial"/>
                <a:cs typeface="Arial"/>
                <a:sym typeface="Arial"/>
              </a:rPr>
              <a:t>Target: dropout / success / relative success</a:t>
            </a:r>
            <a:endParaRPr sz="203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1093"/>
              <a:buFont typeface="Arial"/>
              <a:buNone/>
            </a:pPr>
            <a:r>
              <a:rPr b="1" lang="en-US" sz="2153">
                <a:latin typeface="Arial"/>
                <a:ea typeface="Arial"/>
                <a:cs typeface="Arial"/>
                <a:sym typeface="Arial"/>
              </a:rPr>
              <a:t>Algorithms</a:t>
            </a:r>
            <a:endParaRPr b="1" sz="2153">
              <a:latin typeface="Arial"/>
              <a:ea typeface="Arial"/>
              <a:cs typeface="Arial"/>
              <a:sym typeface="Arial"/>
            </a:endParaRPr>
          </a:p>
          <a:p>
            <a:pPr indent="-33861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US" sz="2038">
                <a:latin typeface="Arial"/>
                <a:ea typeface="Arial"/>
                <a:cs typeface="Arial"/>
                <a:sym typeface="Arial"/>
              </a:rPr>
              <a:t>Supervised:</a:t>
            </a:r>
            <a:r>
              <a:rPr lang="en-US" sz="2038">
                <a:latin typeface="Arial"/>
                <a:ea typeface="Arial"/>
                <a:cs typeface="Arial"/>
                <a:sym typeface="Arial"/>
              </a:rPr>
              <a:t> DT, SVM, RF, LR</a:t>
            </a:r>
            <a:endParaRPr sz="2038">
              <a:latin typeface="Arial"/>
              <a:ea typeface="Arial"/>
              <a:cs typeface="Arial"/>
              <a:sym typeface="Arial"/>
            </a:endParaRPr>
          </a:p>
          <a:p>
            <a:pPr indent="-33861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2038">
                <a:latin typeface="Arial"/>
                <a:ea typeface="Arial"/>
                <a:cs typeface="Arial"/>
                <a:sym typeface="Arial"/>
              </a:rPr>
              <a:t>Boosting:</a:t>
            </a:r>
            <a:r>
              <a:rPr lang="en-US" sz="2038">
                <a:latin typeface="Arial"/>
                <a:ea typeface="Arial"/>
                <a:cs typeface="Arial"/>
                <a:sym typeface="Arial"/>
              </a:rPr>
              <a:t> GB, XGBoost, CatBoost, LightGBM</a:t>
            </a:r>
            <a:endParaRPr sz="2038">
              <a:latin typeface="Arial"/>
              <a:ea typeface="Arial"/>
              <a:cs typeface="Arial"/>
              <a:sym typeface="Arial"/>
            </a:endParaRPr>
          </a:p>
          <a:p>
            <a:pPr indent="-33861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2038">
                <a:latin typeface="Arial"/>
                <a:ea typeface="Arial"/>
                <a:cs typeface="Arial"/>
                <a:sym typeface="Arial"/>
              </a:rPr>
              <a:t>Unsupervised:</a:t>
            </a:r>
            <a:r>
              <a:rPr lang="en-US" sz="2038">
                <a:latin typeface="Arial"/>
                <a:ea typeface="Arial"/>
                <a:cs typeface="Arial"/>
                <a:sym typeface="Arial"/>
              </a:rPr>
              <a:t> Isolation Forest</a:t>
            </a:r>
            <a:endParaRPr sz="203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1093"/>
              <a:buFont typeface="Arial"/>
              <a:buNone/>
            </a:pPr>
            <a:r>
              <a:rPr b="1" lang="en-US" sz="2153">
                <a:latin typeface="Arial"/>
                <a:ea typeface="Arial"/>
                <a:cs typeface="Arial"/>
                <a:sym typeface="Arial"/>
              </a:rPr>
              <a:t>Techniques</a:t>
            </a:r>
            <a:endParaRPr b="1" sz="2153">
              <a:latin typeface="Arial"/>
              <a:ea typeface="Arial"/>
              <a:cs typeface="Arial"/>
              <a:sym typeface="Arial"/>
            </a:endParaRPr>
          </a:p>
          <a:p>
            <a:pPr indent="-35465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2335">
                <a:latin typeface="Arial"/>
                <a:ea typeface="Arial"/>
                <a:cs typeface="Arial"/>
                <a:sym typeface="Arial"/>
              </a:rPr>
              <a:t>Class imbalance: </a:t>
            </a:r>
            <a:r>
              <a:rPr b="1" lang="en-US" sz="2335">
                <a:latin typeface="Arial"/>
                <a:ea typeface="Arial"/>
                <a:cs typeface="Arial"/>
                <a:sym typeface="Arial"/>
              </a:rPr>
              <a:t>SMOTE, ADASYN</a:t>
            </a:r>
            <a:endParaRPr b="1" sz="2335">
              <a:latin typeface="Arial"/>
              <a:ea typeface="Arial"/>
              <a:cs typeface="Arial"/>
              <a:sym typeface="Arial"/>
            </a:endParaRPr>
          </a:p>
          <a:p>
            <a:pPr indent="-35465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335">
                <a:latin typeface="Arial"/>
                <a:ea typeface="Arial"/>
                <a:cs typeface="Arial"/>
                <a:sym typeface="Arial"/>
              </a:rPr>
              <a:t>Tuning: </a:t>
            </a:r>
            <a:r>
              <a:rPr b="1" lang="en-US" sz="2335">
                <a:latin typeface="Arial"/>
                <a:ea typeface="Arial"/>
                <a:cs typeface="Arial"/>
                <a:sym typeface="Arial"/>
              </a:rPr>
              <a:t>Optuna</a:t>
            </a:r>
            <a:endParaRPr b="1" sz="2335">
              <a:latin typeface="Arial"/>
              <a:ea typeface="Arial"/>
              <a:cs typeface="Arial"/>
              <a:sym typeface="Arial"/>
            </a:endParaRPr>
          </a:p>
          <a:p>
            <a:pPr indent="-35465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335">
                <a:latin typeface="Arial"/>
                <a:ea typeface="Arial"/>
                <a:cs typeface="Arial"/>
                <a:sym typeface="Arial"/>
              </a:rPr>
              <a:t>Explainability: </a:t>
            </a:r>
            <a:r>
              <a:rPr b="1" lang="en-US" sz="2335">
                <a:latin typeface="Arial"/>
                <a:ea typeface="Arial"/>
                <a:cs typeface="Arial"/>
                <a:sym typeface="Arial"/>
              </a:rPr>
              <a:t>SHAP</a:t>
            </a:r>
            <a:endParaRPr b="1" sz="233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1093"/>
              <a:buFont typeface="Arial"/>
              <a:buNone/>
            </a:pPr>
            <a:r>
              <a:rPr b="1" lang="en-US" sz="2153">
                <a:latin typeface="Arial"/>
                <a:ea typeface="Arial"/>
                <a:cs typeface="Arial"/>
                <a:sym typeface="Arial"/>
              </a:rPr>
              <a:t>Workflow</a:t>
            </a:r>
            <a:endParaRPr b="1" sz="2153">
              <a:latin typeface="Arial"/>
              <a:ea typeface="Arial"/>
              <a:cs typeface="Arial"/>
              <a:sym typeface="Arial"/>
            </a:endParaRPr>
          </a:p>
          <a:p>
            <a:pPr indent="-33984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2061">
                <a:latin typeface="Arial"/>
                <a:ea typeface="Arial"/>
                <a:cs typeface="Arial"/>
                <a:sym typeface="Arial"/>
              </a:rPr>
              <a:t>Preprocess → Resample → Train Models → Tune → Evaluate (F1-score) → Interpret</a:t>
            </a:r>
            <a:endParaRPr sz="2061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89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Results &amp; Evaluation of Paper-1</a:t>
            </a:r>
            <a:endParaRPr/>
          </a:p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Performance Metrics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Models evaluated using </a:t>
            </a: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Accuracy, Precision, Recall, and F1-Score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F1-Score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used as main metric due to class imbalance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Accuracy / Precision / Recall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Boosting models (LightGBM, CatBoost)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 achieved highest scores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Traditional models showed moderate performance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Isolation Forest had low accuracy and recall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Graphs / Tables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Bar chart: F1-score comparison of all algorithms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Table: Before vs After hyperparameter tuning (Optuna)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SHAP plot: Top features influencing dropout prediction 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3dfe8de3f_0_7"/>
          <p:cNvSpPr txBox="1"/>
          <p:nvPr>
            <p:ph type="title"/>
          </p:nvPr>
        </p:nvSpPr>
        <p:spPr>
          <a:xfrm>
            <a:off x="457200" y="136526"/>
            <a:ext cx="8229600" cy="92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Paper-2 Details</a:t>
            </a:r>
            <a:endParaRPr/>
          </a:p>
        </p:txBody>
      </p:sp>
      <p:sp>
        <p:nvSpPr>
          <p:cNvPr id="126" name="Google Shape;126;g3d3dfe8de3f_0_7"/>
          <p:cNvSpPr txBox="1"/>
          <p:nvPr>
            <p:ph idx="1" type="body"/>
          </p:nvPr>
        </p:nvSpPr>
        <p:spPr>
          <a:xfrm>
            <a:off x="457200" y="1167788"/>
            <a:ext cx="8229600" cy="51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596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500"/>
              <a:buChar char="●"/>
            </a:pPr>
            <a:r>
              <a:rPr b="1" lang="en-US" sz="25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Title</a:t>
            </a:r>
            <a:r>
              <a:rPr lang="en-US" sz="25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Student Dropout Prediction through Machine Learning Optimization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73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500"/>
              <a:buChar char="●"/>
            </a:pPr>
            <a:r>
              <a:rPr b="1" lang="en-US" sz="25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Authors</a:t>
            </a:r>
            <a:r>
              <a:rPr lang="en-US" sz="25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Markson Rebelo Marcolino et al.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73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500"/>
              <a:buChar char="●"/>
            </a:pPr>
            <a:r>
              <a:rPr b="1" lang="en-US" sz="25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Year</a:t>
            </a:r>
            <a:r>
              <a:rPr lang="en-US" sz="25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2025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73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500"/>
              <a:buChar char="●"/>
            </a:pPr>
            <a:r>
              <a:rPr b="1" lang="en-US" sz="25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Journal</a:t>
            </a:r>
            <a:r>
              <a:rPr lang="en-US" sz="25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Scientific Reports</a:t>
            </a:r>
            <a:endParaRPr sz="20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3dfe8de3f_0_12"/>
          <p:cNvSpPr txBox="1"/>
          <p:nvPr>
            <p:ph type="title"/>
          </p:nvPr>
        </p:nvSpPr>
        <p:spPr>
          <a:xfrm>
            <a:off x="457200" y="136526"/>
            <a:ext cx="8229600" cy="92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Introduction of Paper-2</a:t>
            </a:r>
            <a:endParaRPr/>
          </a:p>
        </p:txBody>
      </p:sp>
      <p:sp>
        <p:nvSpPr>
          <p:cNvPr id="132" name="Google Shape;132;g3d3dfe8de3f_0_12"/>
          <p:cNvSpPr txBox="1"/>
          <p:nvPr>
            <p:ph idx="1" type="body"/>
          </p:nvPr>
        </p:nvSpPr>
        <p:spPr>
          <a:xfrm>
            <a:off x="457200" y="1167788"/>
            <a:ext cx="8229600" cy="51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596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400"/>
              <a:buChar char="●"/>
            </a:pP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Dropout is a major educational challenge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●"/>
            </a:pP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LMS generates huge student data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●"/>
            </a:pPr>
            <a:r>
              <a:rPr b="1" lang="en-US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ML helps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1" marL="1193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○"/>
            </a:pPr>
            <a:r>
              <a:rPr lang="en-US" sz="2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Analyze behavior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1" marL="1193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○"/>
            </a:pPr>
            <a:r>
              <a:rPr lang="en-US" sz="2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Predict outcomes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●"/>
            </a:pPr>
            <a:r>
              <a:rPr b="1" lang="en-US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Key idea:</a:t>
            </a:r>
            <a:endParaRPr b="1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1" marL="1193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○"/>
            </a:pPr>
            <a:r>
              <a:rPr lang="en-US" sz="2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Use CatBoost + optimization techniques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1" marL="1193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○"/>
            </a:pPr>
            <a:r>
              <a:rPr lang="en-US" sz="2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Improve prediction accuracy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3dfe8de3f_0_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2727"/>
              <a:buFont typeface="Calibri"/>
              <a:buNone/>
            </a:pPr>
            <a:r>
              <a:rPr lang="en-US"/>
              <a:t>Methodology of Paper-2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d3dfe8de3f_0_17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200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Dataset:</a:t>
            </a:r>
            <a:endParaRPr b="1" sz="200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5123" lvl="0" marL="5969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835"/>
              <a:buChar char="●"/>
            </a:pPr>
            <a:r>
              <a:rPr lang="en-US" sz="18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567 students</a:t>
            </a:r>
            <a:endParaRPr sz="18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512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35"/>
              <a:buChar char="●"/>
            </a:pPr>
            <a:r>
              <a:rPr lang="en-US" sz="18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23 courses</a:t>
            </a:r>
            <a:endParaRPr sz="18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512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35"/>
              <a:buChar char="●"/>
            </a:pPr>
            <a:r>
              <a:rPr lang="en-US" sz="18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LMS (Moodle logs)</a:t>
            </a:r>
            <a:endParaRPr sz="18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200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Features:</a:t>
            </a:r>
            <a:endParaRPr b="1" sz="200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5123" lvl="0" marL="5969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835"/>
              <a:buChar char="●"/>
            </a:pPr>
            <a:r>
              <a:rPr lang="en-US" sz="18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Log activity</a:t>
            </a:r>
            <a:endParaRPr sz="18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512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35"/>
              <a:buChar char="●"/>
            </a:pPr>
            <a:r>
              <a:rPr lang="en-US" sz="18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Days active/inactive</a:t>
            </a:r>
            <a:endParaRPr sz="18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512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35"/>
              <a:buChar char="●"/>
            </a:pPr>
            <a:r>
              <a:rPr lang="en-US" sz="18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Course progress</a:t>
            </a:r>
            <a:endParaRPr sz="18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512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35"/>
              <a:buChar char="●"/>
            </a:pPr>
            <a:r>
              <a:rPr lang="en-US" sz="18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Engagement patterns</a:t>
            </a:r>
            <a:endParaRPr sz="18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200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Algorithms:</a:t>
            </a:r>
            <a:endParaRPr b="1" sz="200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5123" lvl="0" marL="5969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835"/>
              <a:buChar char="●"/>
            </a:pPr>
            <a:r>
              <a:rPr lang="en-US" sz="18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CatBoost (main)</a:t>
            </a:r>
            <a:endParaRPr sz="18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512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35"/>
              <a:buChar char="●"/>
            </a:pPr>
            <a:r>
              <a:rPr lang="en-US" sz="18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Random Forest</a:t>
            </a:r>
            <a:endParaRPr sz="18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512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35"/>
              <a:buChar char="●"/>
            </a:pPr>
            <a:r>
              <a:rPr lang="en-US" sz="18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XGBoost</a:t>
            </a:r>
            <a:endParaRPr sz="18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040"/>
          </a:p>
        </p:txBody>
      </p:sp>
      <p:sp>
        <p:nvSpPr>
          <p:cNvPr id="139" name="Google Shape;139;g3d3dfe8de3f_0_17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220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Techniques:</a:t>
            </a:r>
            <a:endParaRPr b="1" sz="220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7823" lvl="0" marL="5969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035"/>
              <a:buChar char="●"/>
            </a:pPr>
            <a:r>
              <a:rPr lang="en-US" sz="20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ADASYN → handle imbalance</a:t>
            </a:r>
            <a:endParaRPr sz="20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782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35"/>
              <a:buChar char="●"/>
            </a:pPr>
            <a:r>
              <a:rPr lang="en-US" sz="20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NSGA-II → optimization</a:t>
            </a:r>
            <a:endParaRPr sz="20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220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Workflow:</a:t>
            </a:r>
            <a:endParaRPr b="1" sz="220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7823" lvl="0" marL="5969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2035"/>
              <a:buAutoNum type="arabicPeriod"/>
            </a:pPr>
            <a:r>
              <a:rPr lang="en-US" sz="20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 Collection</a:t>
            </a:r>
            <a:endParaRPr sz="20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782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35"/>
              <a:buAutoNum type="arabicPeriod"/>
            </a:pPr>
            <a:r>
              <a:rPr lang="en-US" sz="20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 Preprocessing</a:t>
            </a:r>
            <a:endParaRPr sz="20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782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35"/>
              <a:buAutoNum type="arabicPeriod"/>
            </a:pPr>
            <a:r>
              <a:rPr lang="en-US" sz="20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sz="20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782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35"/>
              <a:buAutoNum type="arabicPeriod"/>
            </a:pPr>
            <a:r>
              <a:rPr lang="en-US" sz="20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Model Training</a:t>
            </a:r>
            <a:endParaRPr sz="20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5782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35"/>
              <a:buAutoNum type="arabicPeriod"/>
            </a:pPr>
            <a:r>
              <a:rPr lang="en-US" sz="20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Evaluation</a:t>
            </a:r>
            <a:endParaRPr sz="20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314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3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3dfe8de3f_0_22"/>
          <p:cNvSpPr txBox="1"/>
          <p:nvPr>
            <p:ph type="title"/>
          </p:nvPr>
        </p:nvSpPr>
        <p:spPr>
          <a:xfrm>
            <a:off x="457200" y="136526"/>
            <a:ext cx="8229600" cy="92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Results &amp; Evaluation of Paper-2</a:t>
            </a:r>
            <a:endParaRPr/>
          </a:p>
        </p:txBody>
      </p:sp>
      <p:sp>
        <p:nvSpPr>
          <p:cNvPr id="145" name="Google Shape;145;g3d3dfe8de3f_0_22"/>
          <p:cNvSpPr txBox="1"/>
          <p:nvPr>
            <p:ph idx="1" type="body"/>
          </p:nvPr>
        </p:nvSpPr>
        <p:spPr>
          <a:xfrm>
            <a:off x="457200" y="1167788"/>
            <a:ext cx="8229600" cy="51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596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900"/>
              <a:buChar char="●"/>
            </a:pPr>
            <a:r>
              <a:rPr lang="en-US" sz="19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Best Model: CatBoost + NSGA-II</a:t>
            </a:r>
            <a:endParaRPr sz="19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Performance:</a:t>
            </a:r>
            <a:endParaRPr b="1" sz="2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596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900"/>
              <a:buChar char="●"/>
            </a:pPr>
            <a:r>
              <a:rPr lang="en-US" sz="19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F1-score ≈ 0.86</a:t>
            </a:r>
            <a:endParaRPr sz="19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Char char="●"/>
            </a:pPr>
            <a:r>
              <a:rPr lang="en-US" sz="19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Accuracy ≈ 0.90</a:t>
            </a:r>
            <a:endParaRPr sz="19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Char char="●"/>
            </a:pPr>
            <a:r>
              <a:rPr lang="en-US" sz="19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AUC ≈ 0.95  </a:t>
            </a:r>
            <a:endParaRPr sz="19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3dfe8de3f_0_34"/>
          <p:cNvSpPr txBox="1"/>
          <p:nvPr>
            <p:ph type="title"/>
          </p:nvPr>
        </p:nvSpPr>
        <p:spPr>
          <a:xfrm>
            <a:off x="457200" y="136526"/>
            <a:ext cx="8229600" cy="92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Paper-3 Details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d3dfe8de3f_0_34"/>
          <p:cNvSpPr txBox="1"/>
          <p:nvPr>
            <p:ph idx="1" type="body"/>
          </p:nvPr>
        </p:nvSpPr>
        <p:spPr>
          <a:xfrm>
            <a:off x="457200" y="1167788"/>
            <a:ext cx="8229600" cy="51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●"/>
            </a:pPr>
            <a:r>
              <a:rPr b="1" lang="en-US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Title: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Study on Dropout Prediction for University Students Using Machine Learning</a:t>
            </a:r>
            <a:endParaRPr i="1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●"/>
            </a:pPr>
            <a:r>
              <a:rPr b="1" lang="en-US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Authors: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Choong Hee Cho, Yang Woo Yu, Hyeon Gyu Kim</a:t>
            </a:r>
            <a:endParaRPr b="1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●"/>
            </a:pPr>
            <a:r>
              <a:rPr b="1" lang="en-US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Year of Publication: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2023</a:t>
            </a:r>
            <a:endParaRPr b="1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●"/>
            </a:pPr>
            <a:r>
              <a:rPr b="1" lang="en-US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Journal/Conference: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Applied Sciences (Appl. Sci.)</a:t>
            </a: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MDPI</a:t>
            </a:r>
            <a:endParaRPr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3dfe8de3f_0_39"/>
          <p:cNvSpPr txBox="1"/>
          <p:nvPr>
            <p:ph type="title"/>
          </p:nvPr>
        </p:nvSpPr>
        <p:spPr>
          <a:xfrm>
            <a:off x="457200" y="136526"/>
            <a:ext cx="8229600" cy="92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Introduction of Paper-3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d3dfe8de3f_0_39"/>
          <p:cNvSpPr txBox="1"/>
          <p:nvPr>
            <p:ph idx="1" type="body"/>
          </p:nvPr>
        </p:nvSpPr>
        <p:spPr>
          <a:xfrm>
            <a:off x="457200" y="1167788"/>
            <a:ext cx="8229600" cy="51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Background, Importance &amp; Key Idea 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Dropout is a major issue in higher education.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Dataset: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20,050 students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(grades, attendance, leave, scholarships, counseling).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Aim: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predict dropout early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using ML (binary: 1 = dropout, 0 = continue).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Supports timely mentoring, counseling, and financial/academic help.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Improves student success and institutional retention.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ML Approach &amp; Best Result 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erged student records and selected key academic/behavioral features.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Models tested: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LR, DT, RF, SVM, DNN, LightGBM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Evaluated using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F1-score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LightGBM performed best (F1 = 0.840).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3dfe8de3f_0_54"/>
          <p:cNvSpPr txBox="1"/>
          <p:nvPr>
            <p:ph type="title"/>
          </p:nvPr>
        </p:nvSpPr>
        <p:spPr>
          <a:xfrm>
            <a:off x="457200" y="136526"/>
            <a:ext cx="8229600" cy="92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/>
              <a:t>Methodology of Paper-3</a:t>
            </a:r>
            <a:endParaRPr/>
          </a:p>
        </p:txBody>
      </p:sp>
      <p:sp>
        <p:nvSpPr>
          <p:cNvPr id="163" name="Google Shape;163;g3d3dfe8de3f_0_54"/>
          <p:cNvSpPr txBox="1"/>
          <p:nvPr>
            <p:ph idx="1" type="body"/>
          </p:nvPr>
        </p:nvSpPr>
        <p:spPr>
          <a:xfrm>
            <a:off x="457200" y="1167788"/>
            <a:ext cx="8229600" cy="51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4278"/>
              <a:buFont typeface="Arial"/>
              <a:buNone/>
            </a:pPr>
            <a:r>
              <a:rPr b="1" lang="en-US" sz="3209">
                <a:latin typeface="Arial"/>
                <a:ea typeface="Arial"/>
                <a:cs typeface="Arial"/>
                <a:sym typeface="Arial"/>
              </a:rPr>
              <a:t>Dataset</a:t>
            </a:r>
            <a:endParaRPr b="1" sz="3209">
              <a:latin typeface="Arial"/>
              <a:ea typeface="Arial"/>
              <a:cs typeface="Arial"/>
              <a:sym typeface="Arial"/>
            </a:endParaRPr>
          </a:p>
          <a:p>
            <a:pPr indent="-34087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2829">
                <a:latin typeface="Arial"/>
                <a:ea typeface="Arial"/>
                <a:cs typeface="Arial"/>
                <a:sym typeface="Arial"/>
              </a:rPr>
              <a:t>Dataset: </a:t>
            </a:r>
            <a:r>
              <a:rPr b="1" lang="en-US" sz="2829">
                <a:latin typeface="Arial"/>
                <a:ea typeface="Arial"/>
                <a:cs typeface="Arial"/>
                <a:sym typeface="Arial"/>
              </a:rPr>
              <a:t>20,050 students</a:t>
            </a:r>
            <a:r>
              <a:rPr lang="en-US" sz="2829">
                <a:latin typeface="Arial"/>
                <a:ea typeface="Arial"/>
                <a:cs typeface="Arial"/>
                <a:sym typeface="Arial"/>
              </a:rPr>
              <a:t> from Sahmyook University (2010–2022)</a:t>
            </a:r>
            <a:endParaRPr sz="2829">
              <a:latin typeface="Arial"/>
              <a:ea typeface="Arial"/>
              <a:cs typeface="Arial"/>
              <a:sym typeface="Arial"/>
            </a:endParaRPr>
          </a:p>
          <a:p>
            <a:pPr indent="-34087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829">
                <a:latin typeface="Arial"/>
                <a:ea typeface="Arial"/>
                <a:cs typeface="Arial"/>
                <a:sym typeface="Arial"/>
              </a:rPr>
              <a:t>Records: </a:t>
            </a:r>
            <a:r>
              <a:rPr b="1" lang="en-US" sz="2829">
                <a:latin typeface="Arial"/>
                <a:ea typeface="Arial"/>
                <a:cs typeface="Arial"/>
                <a:sym typeface="Arial"/>
              </a:rPr>
              <a:t>168,000 semester-wise entries</a:t>
            </a:r>
            <a:endParaRPr b="1" sz="2829">
              <a:latin typeface="Arial"/>
              <a:ea typeface="Arial"/>
              <a:cs typeface="Arial"/>
              <a:sym typeface="Arial"/>
            </a:endParaRPr>
          </a:p>
          <a:p>
            <a:pPr indent="-34087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829">
                <a:latin typeface="Arial"/>
                <a:ea typeface="Arial"/>
                <a:cs typeface="Arial"/>
                <a:sym typeface="Arial"/>
              </a:rPr>
              <a:t>Top 10 features: GPA, failed subjects, semesters, leave, scholarship, counseling, extracurriculars, books borrowed, admission type, region</a:t>
            </a:r>
            <a:endParaRPr sz="2829">
              <a:latin typeface="Arial"/>
              <a:ea typeface="Arial"/>
              <a:cs typeface="Arial"/>
              <a:sym typeface="Arial"/>
            </a:endParaRPr>
          </a:p>
          <a:p>
            <a:pPr indent="-34087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829">
                <a:latin typeface="Arial"/>
                <a:ea typeface="Arial"/>
                <a:cs typeface="Arial"/>
                <a:sym typeface="Arial"/>
              </a:rPr>
              <a:t>Target: </a:t>
            </a:r>
            <a:r>
              <a:rPr b="1" lang="en-US" sz="2829">
                <a:latin typeface="Arial"/>
                <a:ea typeface="Arial"/>
                <a:cs typeface="Arial"/>
                <a:sym typeface="Arial"/>
              </a:rPr>
              <a:t>Dropout → 1 = dropout, 0 = continue/graduated</a:t>
            </a:r>
            <a:endParaRPr b="1" sz="282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4278"/>
              <a:buFont typeface="Arial"/>
              <a:buNone/>
            </a:pPr>
            <a:r>
              <a:rPr b="1" lang="en-US" sz="3209">
                <a:latin typeface="Arial"/>
                <a:ea typeface="Arial"/>
                <a:cs typeface="Arial"/>
                <a:sym typeface="Arial"/>
              </a:rPr>
              <a:t>ML Models</a:t>
            </a:r>
            <a:endParaRPr b="1" sz="3209">
              <a:latin typeface="Arial"/>
              <a:ea typeface="Arial"/>
              <a:cs typeface="Arial"/>
              <a:sym typeface="Arial"/>
            </a:endParaRPr>
          </a:p>
          <a:p>
            <a:pPr indent="-34087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2829">
                <a:latin typeface="Arial"/>
                <a:ea typeface="Arial"/>
                <a:cs typeface="Arial"/>
                <a:sym typeface="Arial"/>
              </a:rPr>
              <a:t>Models used: </a:t>
            </a:r>
            <a:r>
              <a:rPr b="1" lang="en-US" sz="2829">
                <a:latin typeface="Arial"/>
                <a:ea typeface="Arial"/>
                <a:cs typeface="Arial"/>
                <a:sym typeface="Arial"/>
              </a:rPr>
              <a:t>LR, DT, RF, SVM, DNN, LightGBM</a:t>
            </a:r>
            <a:endParaRPr b="1" sz="2829">
              <a:latin typeface="Arial"/>
              <a:ea typeface="Arial"/>
              <a:cs typeface="Arial"/>
              <a:sym typeface="Arial"/>
            </a:endParaRPr>
          </a:p>
          <a:p>
            <a:pPr indent="-34087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829">
                <a:latin typeface="Arial"/>
                <a:ea typeface="Arial"/>
                <a:cs typeface="Arial"/>
                <a:sym typeface="Arial"/>
              </a:rPr>
              <a:t>Best model: </a:t>
            </a:r>
            <a:r>
              <a:rPr b="1" lang="en-US" sz="2829">
                <a:latin typeface="Arial"/>
                <a:ea typeface="Arial"/>
                <a:cs typeface="Arial"/>
                <a:sym typeface="Arial"/>
              </a:rPr>
              <a:t>LightGBM (F1 = 0.840)</a:t>
            </a:r>
            <a:endParaRPr b="1" sz="282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4278"/>
              <a:buFont typeface="Arial"/>
              <a:buNone/>
            </a:pPr>
            <a:r>
              <a:rPr b="1" lang="en-US" sz="3209">
                <a:latin typeface="Arial"/>
                <a:ea typeface="Arial"/>
                <a:cs typeface="Arial"/>
                <a:sym typeface="Arial"/>
              </a:rPr>
              <a:t>Workflow</a:t>
            </a:r>
            <a:endParaRPr b="1" sz="320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8884"/>
              <a:buFont typeface="Arial"/>
              <a:buNone/>
            </a:pPr>
            <a:r>
              <a:rPr b="1" lang="en-US" sz="2829">
                <a:latin typeface="Arial"/>
                <a:ea typeface="Arial"/>
                <a:cs typeface="Arial"/>
                <a:sym typeface="Arial"/>
              </a:rPr>
              <a:t>Data Collection → Merging → Feature Selection → Preprocessing → Train/Test Split → Model Training → Comparison → Best Model → Prediction</a:t>
            </a:r>
            <a:endParaRPr b="1" sz="282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3dfe8de3f_0_49"/>
          <p:cNvSpPr txBox="1"/>
          <p:nvPr>
            <p:ph type="title"/>
          </p:nvPr>
        </p:nvSpPr>
        <p:spPr>
          <a:xfrm>
            <a:off x="457200" y="136526"/>
            <a:ext cx="8229600" cy="92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Results &amp; Evaluation of Paper-3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d3dfe8de3f_0_49"/>
          <p:cNvSpPr txBox="1"/>
          <p:nvPr>
            <p:ph idx="1" type="body"/>
          </p:nvPr>
        </p:nvSpPr>
        <p:spPr>
          <a:xfrm>
            <a:off x="457200" y="1167788"/>
            <a:ext cx="8229600" cy="51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-US" sz="4646">
                <a:latin typeface="Arial"/>
                <a:ea typeface="Arial"/>
                <a:cs typeface="Arial"/>
                <a:sym typeface="Arial"/>
              </a:rPr>
              <a:t>Performance Metrics &amp; Best Result</a:t>
            </a:r>
            <a:endParaRPr b="1" sz="4646">
              <a:latin typeface="Arial"/>
              <a:ea typeface="Arial"/>
              <a:cs typeface="Arial"/>
              <a:sym typeface="Arial"/>
            </a:endParaRPr>
          </a:p>
          <a:p>
            <a:pPr indent="-31136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4011">
                <a:latin typeface="Arial"/>
                <a:ea typeface="Arial"/>
                <a:cs typeface="Arial"/>
                <a:sym typeface="Arial"/>
              </a:rPr>
              <a:t>Metrics used: </a:t>
            </a:r>
            <a:r>
              <a:rPr b="1" lang="en-US" sz="4011">
                <a:latin typeface="Arial"/>
                <a:ea typeface="Arial"/>
                <a:cs typeface="Arial"/>
                <a:sym typeface="Arial"/>
              </a:rPr>
              <a:t>Accuracy, Precision, Recall, F1-score</a:t>
            </a:r>
            <a:endParaRPr b="1" sz="401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-US" sz="4646">
                <a:latin typeface="Arial"/>
                <a:ea typeface="Arial"/>
                <a:cs typeface="Arial"/>
                <a:sym typeface="Arial"/>
              </a:rPr>
              <a:t>Model Performance</a:t>
            </a:r>
            <a:endParaRPr b="1" sz="4646">
              <a:latin typeface="Arial"/>
              <a:ea typeface="Arial"/>
              <a:cs typeface="Arial"/>
              <a:sym typeface="Arial"/>
            </a:endParaRPr>
          </a:p>
          <a:p>
            <a:pPr indent="-31136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US" sz="4011">
                <a:latin typeface="Arial"/>
                <a:ea typeface="Arial"/>
                <a:cs typeface="Arial"/>
                <a:sym typeface="Arial"/>
              </a:rPr>
              <a:t>LR:</a:t>
            </a:r>
            <a:r>
              <a:rPr lang="en-US" sz="4011">
                <a:latin typeface="Arial"/>
                <a:ea typeface="Arial"/>
                <a:cs typeface="Arial"/>
                <a:sym typeface="Arial"/>
              </a:rPr>
              <a:t> Acc 92.7%, F1 71.5%</a:t>
            </a:r>
            <a:endParaRPr sz="4011">
              <a:latin typeface="Arial"/>
              <a:ea typeface="Arial"/>
              <a:cs typeface="Arial"/>
              <a:sym typeface="Arial"/>
            </a:endParaRPr>
          </a:p>
          <a:p>
            <a:pPr indent="-3113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4011">
                <a:latin typeface="Arial"/>
                <a:ea typeface="Arial"/>
                <a:cs typeface="Arial"/>
                <a:sym typeface="Arial"/>
              </a:rPr>
              <a:t>DT:</a:t>
            </a:r>
            <a:r>
              <a:rPr lang="en-US" sz="4011">
                <a:latin typeface="Arial"/>
                <a:ea typeface="Arial"/>
                <a:cs typeface="Arial"/>
                <a:sym typeface="Arial"/>
              </a:rPr>
              <a:t> Acc 94.7%, F1 80.2%</a:t>
            </a:r>
            <a:endParaRPr sz="4011">
              <a:latin typeface="Arial"/>
              <a:ea typeface="Arial"/>
              <a:cs typeface="Arial"/>
              <a:sym typeface="Arial"/>
            </a:endParaRPr>
          </a:p>
          <a:p>
            <a:pPr indent="-3113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4011">
                <a:latin typeface="Arial"/>
                <a:ea typeface="Arial"/>
                <a:cs typeface="Arial"/>
                <a:sym typeface="Arial"/>
              </a:rPr>
              <a:t>RF:</a:t>
            </a:r>
            <a:r>
              <a:rPr lang="en-US" sz="4011">
                <a:latin typeface="Arial"/>
                <a:ea typeface="Arial"/>
                <a:cs typeface="Arial"/>
                <a:sym typeface="Arial"/>
              </a:rPr>
              <a:t> Acc 95.3%, F1 82.7%</a:t>
            </a:r>
            <a:endParaRPr sz="4011">
              <a:latin typeface="Arial"/>
              <a:ea typeface="Arial"/>
              <a:cs typeface="Arial"/>
              <a:sym typeface="Arial"/>
            </a:endParaRPr>
          </a:p>
          <a:p>
            <a:pPr indent="-3113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4011">
                <a:latin typeface="Arial"/>
                <a:ea typeface="Arial"/>
                <a:cs typeface="Arial"/>
                <a:sym typeface="Arial"/>
              </a:rPr>
              <a:t>SVM:</a:t>
            </a:r>
            <a:r>
              <a:rPr lang="en-US" sz="4011">
                <a:latin typeface="Arial"/>
                <a:ea typeface="Arial"/>
                <a:cs typeface="Arial"/>
                <a:sym typeface="Arial"/>
              </a:rPr>
              <a:t> Acc 94.2%, F1 78.7%</a:t>
            </a:r>
            <a:endParaRPr sz="4011">
              <a:latin typeface="Arial"/>
              <a:ea typeface="Arial"/>
              <a:cs typeface="Arial"/>
              <a:sym typeface="Arial"/>
            </a:endParaRPr>
          </a:p>
          <a:p>
            <a:pPr indent="-3113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4011">
                <a:latin typeface="Arial"/>
                <a:ea typeface="Arial"/>
                <a:cs typeface="Arial"/>
                <a:sym typeface="Arial"/>
              </a:rPr>
              <a:t>DNN:</a:t>
            </a:r>
            <a:r>
              <a:rPr lang="en-US" sz="4011">
                <a:latin typeface="Arial"/>
                <a:ea typeface="Arial"/>
                <a:cs typeface="Arial"/>
                <a:sym typeface="Arial"/>
              </a:rPr>
              <a:t> Acc 94.7%, F1 80.8%</a:t>
            </a:r>
            <a:endParaRPr sz="4011">
              <a:latin typeface="Arial"/>
              <a:ea typeface="Arial"/>
              <a:cs typeface="Arial"/>
              <a:sym typeface="Arial"/>
            </a:endParaRPr>
          </a:p>
          <a:p>
            <a:pPr indent="-31136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4011">
                <a:latin typeface="Arial"/>
                <a:ea typeface="Arial"/>
                <a:cs typeface="Arial"/>
                <a:sym typeface="Arial"/>
              </a:rPr>
              <a:t>LightGBM:</a:t>
            </a:r>
            <a:r>
              <a:rPr lang="en-US" sz="4011">
                <a:latin typeface="Arial"/>
                <a:ea typeface="Arial"/>
                <a:cs typeface="Arial"/>
                <a:sym typeface="Arial"/>
              </a:rPr>
              <a:t> Acc 95.5%, Precision 86.7%, Recall 81.4%, F1 84.0%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-US" sz="4646">
                <a:latin typeface="Arial"/>
                <a:ea typeface="Arial"/>
                <a:cs typeface="Arial"/>
                <a:sym typeface="Arial"/>
              </a:rPr>
              <a:t>Graph </a:t>
            </a:r>
            <a:endParaRPr b="1" sz="4646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011">
                <a:latin typeface="Arial"/>
                <a:ea typeface="Arial"/>
                <a:cs typeface="Arial"/>
                <a:sym typeface="Arial"/>
              </a:rPr>
              <a:t>LightGBM (LGBM) gives the highest overall performanceRandom Forest (RF) is the second best</a:t>
            </a:r>
            <a:endParaRPr sz="4011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428"/>
              <a:buFont typeface="Arial"/>
              <a:buNone/>
            </a:pPr>
            <a:r>
              <a:rPr lang="en-US" sz="4011">
                <a:latin typeface="Arial"/>
                <a:ea typeface="Arial"/>
                <a:cs typeface="Arial"/>
                <a:sym typeface="Arial"/>
              </a:rPr>
              <a:t>Logistic Regression (LR) has the lowest recall</a:t>
            </a:r>
            <a:endParaRPr sz="4011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428"/>
              <a:buFont typeface="Arial"/>
              <a:buNone/>
            </a:pPr>
            <a:r>
              <a:rPr lang="en-US" sz="4011">
                <a:latin typeface="Arial"/>
                <a:ea typeface="Arial"/>
                <a:cs typeface="Arial"/>
                <a:sym typeface="Arial"/>
              </a:rPr>
              <a:t>SVM and DNN show balanced but moderate performance</a:t>
            </a:r>
            <a:endParaRPr sz="4011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7428"/>
              <a:buFont typeface="Arial"/>
              <a:buNone/>
            </a:pPr>
            <a:r>
              <a:rPr lang="en-US" sz="4011">
                <a:latin typeface="Arial"/>
                <a:ea typeface="Arial"/>
                <a:cs typeface="Arial"/>
                <a:sym typeface="Arial"/>
              </a:rPr>
              <a:t>Precision values are consistently higher than recall</a:t>
            </a:r>
            <a:endParaRPr sz="4011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1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g3d3dfe8de3f_0_49" title="Screenshot 2026-04-01 1415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625" y="4663825"/>
            <a:ext cx="3365175" cy="15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3dfe8de3f_0_79"/>
          <p:cNvSpPr txBox="1"/>
          <p:nvPr>
            <p:ph type="title"/>
          </p:nvPr>
        </p:nvSpPr>
        <p:spPr>
          <a:xfrm>
            <a:off x="457200" y="136526"/>
            <a:ext cx="8229600" cy="92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Paper-4 Details</a:t>
            </a:r>
            <a:endParaRPr/>
          </a:p>
        </p:txBody>
      </p:sp>
      <p:sp>
        <p:nvSpPr>
          <p:cNvPr id="176" name="Google Shape;176;g3d3dfe8de3f_0_79"/>
          <p:cNvSpPr txBox="1"/>
          <p:nvPr>
            <p:ph idx="1" type="body"/>
          </p:nvPr>
        </p:nvSpPr>
        <p:spPr>
          <a:xfrm>
            <a:off x="457200" y="1167788"/>
            <a:ext cx="8229600" cy="51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Title:</a:t>
            </a:r>
            <a:br>
              <a:rPr b="1" lang="en-US" sz="2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en-US" sz="2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Student Dropout Prediction for University with High Precision and Recall</a:t>
            </a:r>
            <a:endParaRPr sz="2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Authors:</a:t>
            </a:r>
            <a:br>
              <a:rPr b="1" lang="en-US" sz="2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en-US" sz="2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Sangyun Kim et al.</a:t>
            </a:r>
            <a:endParaRPr sz="2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Year:</a:t>
            </a:r>
            <a:r>
              <a:rPr lang="en-US" sz="2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2023</a:t>
            </a:r>
            <a:br>
              <a:rPr lang="en-US" sz="2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1" lang="en-US" sz="2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Journal:</a:t>
            </a:r>
            <a:r>
              <a:rPr lang="en-US" sz="2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Applied Sciences</a:t>
            </a:r>
            <a:endParaRPr sz="22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3dfe8de3f_0_84"/>
          <p:cNvSpPr txBox="1"/>
          <p:nvPr>
            <p:ph type="title"/>
          </p:nvPr>
        </p:nvSpPr>
        <p:spPr>
          <a:xfrm>
            <a:off x="457200" y="136526"/>
            <a:ext cx="8229600" cy="92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Introduction of Paper-4</a:t>
            </a:r>
            <a:endParaRPr/>
          </a:p>
        </p:txBody>
      </p:sp>
      <p:sp>
        <p:nvSpPr>
          <p:cNvPr id="182" name="Google Shape;182;g3d3dfe8de3f_0_84"/>
          <p:cNvSpPr txBox="1"/>
          <p:nvPr>
            <p:ph idx="1" type="body"/>
          </p:nvPr>
        </p:nvSpPr>
        <p:spPr>
          <a:xfrm>
            <a:off x="457200" y="1167788"/>
            <a:ext cx="8229600" cy="51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Background context</a:t>
            </a:r>
            <a:endParaRPr b="1"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596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600"/>
              <a:buChar char="●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Student dropout is increasing in universities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●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Caused by academic + personal factors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●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ML is used to predict at-risk students 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Why the problem is important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596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600"/>
              <a:buChar char="●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Wastes time &amp; resources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●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Affects students + universities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●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Early prediction → better support &amp; counseling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Key idea of the paper</a:t>
            </a:r>
            <a:endParaRPr b="1"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596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600"/>
              <a:buChar char="●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Proposes </a:t>
            </a:r>
            <a:r>
              <a:rPr b="1" lang="en-US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SDP (hybrid ML model)</a:t>
            </a:r>
            <a:endParaRPr b="1"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●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Improves </a:t>
            </a:r>
            <a:r>
              <a:rPr b="1" lang="en-US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precision + recall</a:t>
            </a:r>
            <a:endParaRPr b="1"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●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Also finds </a:t>
            </a:r>
            <a:r>
              <a:rPr b="1" lang="en-US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reasons for dropout</a:t>
            </a:r>
            <a:endParaRPr b="1"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Char char="●"/>
            </a:pPr>
            <a:r>
              <a:rPr lang="en-US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Helps in </a:t>
            </a:r>
            <a:r>
              <a:rPr b="1" lang="en-US" sz="16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personalized intervention</a:t>
            </a:r>
            <a:endParaRPr b="1" sz="16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3dfe8de3f_0_89"/>
          <p:cNvSpPr txBox="1"/>
          <p:nvPr>
            <p:ph type="title"/>
          </p:nvPr>
        </p:nvSpPr>
        <p:spPr>
          <a:xfrm>
            <a:off x="457200" y="136526"/>
            <a:ext cx="8229600" cy="92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/>
              <a:t>Methodology of Paper-4</a:t>
            </a:r>
            <a:endParaRPr/>
          </a:p>
        </p:txBody>
      </p:sp>
      <p:sp>
        <p:nvSpPr>
          <p:cNvPr id="188" name="Google Shape;188;g3d3dfe8de3f_0_89"/>
          <p:cNvSpPr txBox="1"/>
          <p:nvPr>
            <p:ph idx="1" type="body"/>
          </p:nvPr>
        </p:nvSpPr>
        <p:spPr>
          <a:xfrm>
            <a:off x="457200" y="1167801"/>
            <a:ext cx="8229600" cy="559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Dataset used</a:t>
            </a:r>
            <a:br>
              <a:rPr b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dataset consists of about </a:t>
            </a:r>
            <a:r>
              <a:rPr b="1"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67,060 student records</a:t>
            </a:r>
            <a:r>
              <a:rPr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collected from Gyeongsang National University (2015–2021). It includes academic, personal, and activity-related data of students.</a:t>
            </a:r>
            <a:endParaRPr sz="131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1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Features</a:t>
            </a:r>
            <a:endParaRPr b="1" sz="131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785" lvl="0" marL="5969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310"/>
              <a:buChar char="●"/>
            </a:pPr>
            <a:r>
              <a:rPr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Academic (grades, credits)</a:t>
            </a:r>
            <a:endParaRPr sz="131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785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10"/>
              <a:buChar char="●"/>
            </a:pPr>
            <a:r>
              <a:rPr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Personal (gender, residence)</a:t>
            </a:r>
            <a:endParaRPr sz="131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785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10"/>
              <a:buChar char="●"/>
            </a:pPr>
            <a:r>
              <a:rPr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Activity (login, counseling, facilities)</a:t>
            </a:r>
            <a:endParaRPr sz="131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785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10"/>
              <a:buChar char="●"/>
            </a:pPr>
            <a:r>
              <a:rPr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Scholarships &amp; performance</a:t>
            </a:r>
            <a:endParaRPr sz="131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1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ML algorithms</a:t>
            </a:r>
            <a:br>
              <a:rPr b="1"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paper uses a </a:t>
            </a:r>
            <a:r>
              <a:rPr b="1"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hybrid model (SDP)</a:t>
            </a:r>
            <a:r>
              <a:rPr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combining:</a:t>
            </a:r>
            <a:endParaRPr sz="131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785" lvl="0" marL="5969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310"/>
              <a:buChar char="●"/>
            </a:pPr>
            <a:r>
              <a:t/>
            </a:r>
            <a:endParaRPr sz="131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785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10"/>
              <a:buChar char="●"/>
            </a:pPr>
            <a:r>
              <a:rPr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XGBoost → high precision</a:t>
            </a:r>
            <a:endParaRPr sz="131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785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10"/>
              <a:buChar char="●"/>
            </a:pPr>
            <a:r>
              <a:rPr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CatBoost → high recall</a:t>
            </a:r>
            <a:endParaRPr sz="131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785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10"/>
              <a:buChar char="●"/>
            </a:pPr>
            <a:r>
              <a:rPr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SMOTE → handle imbalance</a:t>
            </a:r>
            <a:endParaRPr sz="131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1785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10"/>
              <a:buChar char="●"/>
            </a:pPr>
            <a:r>
              <a:rPr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PCA + K-means → find dropout reasons</a:t>
            </a:r>
            <a:endParaRPr sz="131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1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Workflow diagram (explained)</a:t>
            </a:r>
            <a:endParaRPr b="1" sz="131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1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 Collection → Preprocessing → Handle Imbalance → Model Training (XGBoost + CatBoost) → Combine Results → Risk Classification (High / Low) → PCA + K-means → Identify Dropout Reasons → Counseling Support  </a:t>
            </a:r>
            <a:endParaRPr sz="131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1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3dfe8de3f_0_94"/>
          <p:cNvSpPr txBox="1"/>
          <p:nvPr>
            <p:ph type="title"/>
          </p:nvPr>
        </p:nvSpPr>
        <p:spPr>
          <a:xfrm>
            <a:off x="457200" y="136526"/>
            <a:ext cx="8229600" cy="92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Results &amp; Evaluation of Paper-4</a:t>
            </a:r>
            <a:endParaRPr/>
          </a:p>
        </p:txBody>
      </p:sp>
      <p:sp>
        <p:nvSpPr>
          <p:cNvPr id="194" name="Google Shape;194;g3d3dfe8de3f_0_94"/>
          <p:cNvSpPr txBox="1"/>
          <p:nvPr>
            <p:ph idx="1" type="body"/>
          </p:nvPr>
        </p:nvSpPr>
        <p:spPr>
          <a:xfrm>
            <a:off x="457200" y="1167788"/>
            <a:ext cx="8229600" cy="51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Results</a:t>
            </a:r>
            <a:endParaRPr b="1"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5969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400"/>
              <a:buChar char="●"/>
            </a:pPr>
            <a:r>
              <a:rPr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Accuracy: ~98–99%</a:t>
            </a:r>
            <a:endParaRPr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●"/>
            </a:pPr>
            <a:r>
              <a:rPr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Precision: up to 0.96</a:t>
            </a:r>
            <a:endParaRPr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●"/>
            </a:pPr>
            <a:r>
              <a:rPr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Recall: ~0.75–0.82</a:t>
            </a:r>
            <a:endParaRPr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●"/>
            </a:pPr>
            <a:r>
              <a:rPr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F1-score: ~0.78–0.85</a:t>
            </a:r>
            <a:endParaRPr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Graphs / Tables (from paper)</a:t>
            </a:r>
            <a:endParaRPr b="1"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Observations</a:t>
            </a:r>
            <a:endParaRPr b="1"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5969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400"/>
              <a:buChar char="●"/>
            </a:pPr>
            <a:r>
              <a:rPr b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XGBoost + SMOTE</a:t>
            </a:r>
            <a:r>
              <a:rPr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→ best precision performance</a:t>
            </a:r>
            <a:endParaRPr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●"/>
            </a:pPr>
            <a:r>
              <a:rPr b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CatBoost + SMOTEENN</a:t>
            </a:r>
            <a:r>
              <a:rPr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→ better recall performance</a:t>
            </a:r>
            <a:endParaRPr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●"/>
            </a:pPr>
            <a:r>
              <a:rPr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Proposed method shows </a:t>
            </a:r>
            <a:r>
              <a:rPr b="1"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better balance (closer to top-left)</a:t>
            </a:r>
            <a:endParaRPr b="1"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Char char="●"/>
            </a:pPr>
            <a:r>
              <a:rPr lang="en-US" sz="14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Lower false positives + higher true positives</a:t>
            </a:r>
            <a:endParaRPr sz="14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pic>
        <p:nvPicPr>
          <p:cNvPr id="195" name="Google Shape;195;g3d3dfe8de3f_0_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400" y="2933801"/>
            <a:ext cx="5972125" cy="21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Summary: Strengths of Papers</a:t>
            </a:r>
            <a:endParaRPr/>
          </a:p>
        </p:txBody>
      </p:sp>
      <p:sp>
        <p:nvSpPr>
          <p:cNvPr id="201" name="Google Shape;201;p8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Literature Survey Table:</a:t>
            </a:r>
            <a:endParaRPr/>
          </a:p>
        </p:txBody>
      </p:sp>
      <p:graphicFrame>
        <p:nvGraphicFramePr>
          <p:cNvPr id="202" name="Google Shape;202;p8"/>
          <p:cNvGraphicFramePr/>
          <p:nvPr/>
        </p:nvGraphicFramePr>
        <p:xfrm>
          <a:off x="564078" y="19423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{C367D238-C5F1-47CA-AF89-EB12D64B327F}</a:tableStyleId>
              </a:tblPr>
              <a:tblGrid>
                <a:gridCol w="635325"/>
                <a:gridCol w="2600700"/>
                <a:gridCol w="1650675"/>
                <a:gridCol w="1496300"/>
                <a:gridCol w="1555675"/>
              </a:tblGrid>
              <a:tr h="74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S.N.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Paper (Authors, Title, Year, Publisher)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What is good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Innovations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Assumptions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Villar &amp; Andrade, 2024, Discover AI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Multiple ML models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Optuna + SHAP + Isolation Forest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Real-world dataset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Marcolino et al., 2025, Scientific Reports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High accuracy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NSGA-II + CatBoost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LMS data sufficient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Cho et al., 2023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Large dataset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Multi-model + SMOTE/ADASYN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Academic data enough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Kim et al., 2023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High precision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Hybrid + SHAP + clustering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Generalizable model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Summary: Limitations of Papers</a:t>
            </a:r>
            <a:endParaRPr/>
          </a:p>
        </p:txBody>
      </p:sp>
      <p:sp>
        <p:nvSpPr>
          <p:cNvPr id="208" name="Google Shape;208;p9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Literature Survey Table: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209" name="Google Shape;209;p9"/>
          <p:cNvGraphicFramePr/>
          <p:nvPr/>
        </p:nvGraphicFramePr>
        <p:xfrm>
          <a:off x="872836" y="19655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{C367D238-C5F1-47CA-AF89-EB12D64B327F}</a:tableStyleId>
              </a:tblPr>
              <a:tblGrid>
                <a:gridCol w="2274125"/>
                <a:gridCol w="1401300"/>
                <a:gridCol w="1873325"/>
                <a:gridCol w="18495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Paper (Authors, Title, Year, Publisher)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Weaknesses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Missing aspects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Assumptions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Villar &amp; Andrade, 2024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Single dataset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 real-time system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Same pattern everywhere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Marcolino et al., 2025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Small dataset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 socio-economic factors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LMS enough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Cho et al., 2023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Only academic data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 emotional factors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Grades define dropout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Kim et al., 2023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Complex model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Single university data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Works everywhere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Research Gaps</a:t>
            </a:r>
            <a:endParaRPr/>
          </a:p>
        </p:txBody>
      </p:sp>
      <p:sp>
        <p:nvSpPr>
          <p:cNvPr id="215" name="Google Shape;215;p10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Research Gaps</a:t>
            </a:r>
            <a:endParaRPr b="1" sz="13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US" sz="17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Limited to single dataset</a:t>
            </a:r>
            <a:endParaRPr sz="17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US" sz="17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 real-time implementation</a:t>
            </a:r>
            <a:endParaRPr sz="17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US" sz="17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Limited feature diversity</a:t>
            </a:r>
            <a:endParaRPr sz="17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Improvements (Realistic)</a:t>
            </a:r>
            <a:endParaRPr b="1" sz="13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US" sz="17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Add more relevant features (attendance, engagement)</a:t>
            </a:r>
            <a:endParaRPr sz="17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US" sz="17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Improve data balancing techniques</a:t>
            </a:r>
            <a:endParaRPr sz="17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US" sz="17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Test with different ML models</a:t>
            </a:r>
            <a:endParaRPr sz="17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Possible Extensions (Future Scope)</a:t>
            </a:r>
            <a:endParaRPr b="1" sz="13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US" sz="17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Multi-university dataset integration</a:t>
            </a:r>
            <a:endParaRPr sz="17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US" sz="17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Real-time prediction system</a:t>
            </a:r>
            <a:endParaRPr sz="17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00"/>
              <a:buChar char="●"/>
            </a:pPr>
            <a:r>
              <a:rPr lang="en-US" sz="17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Integration with LMS platforms</a:t>
            </a:r>
            <a:endParaRPr sz="17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Your Proposed Idea</a:t>
            </a:r>
            <a:endParaRPr/>
          </a:p>
        </p:txBody>
      </p:sp>
      <p:sp>
        <p:nvSpPr>
          <p:cNvPr id="221" name="Google Shape;221;p11"/>
          <p:cNvSpPr txBox="1"/>
          <p:nvPr>
            <p:ph idx="1" type="body"/>
          </p:nvPr>
        </p:nvSpPr>
        <p:spPr>
          <a:xfrm>
            <a:off x="389700" y="1140800"/>
            <a:ext cx="8297100" cy="57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164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Your Proposed Idea</a:t>
            </a:r>
            <a:endParaRPr b="1" sz="164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3373" lvl="0" marL="5969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335"/>
              <a:buChar char="●"/>
            </a:pPr>
            <a:r>
              <a:rPr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Enhance dropout prediction using </a:t>
            </a:r>
            <a:r>
              <a:rPr b="1"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additional behavioral features</a:t>
            </a:r>
            <a:endParaRPr b="1" sz="13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337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5"/>
              <a:buChar char="●"/>
            </a:pPr>
            <a:r>
              <a:rPr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Focus on </a:t>
            </a:r>
            <a:r>
              <a:rPr b="1"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early identification of at-risk students</a:t>
            </a:r>
            <a:endParaRPr b="1" sz="13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337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5"/>
              <a:buChar char="●"/>
            </a:pPr>
            <a:r>
              <a:rPr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Combine prediction with </a:t>
            </a:r>
            <a:r>
              <a:rPr b="1"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basic visualization/dashboard</a:t>
            </a:r>
            <a:endParaRPr b="1" sz="13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b="1" sz="13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164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Your Improvement Idea</a:t>
            </a:r>
            <a:endParaRPr b="1" sz="164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3373" lvl="0" marL="5969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335"/>
              <a:buChar char="●"/>
            </a:pPr>
            <a:r>
              <a:rPr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Include features like </a:t>
            </a:r>
            <a:r>
              <a:rPr b="1"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attendance, engagement, login activity</a:t>
            </a:r>
            <a:endParaRPr b="1" sz="13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337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5"/>
              <a:buChar char="●"/>
            </a:pPr>
            <a:r>
              <a:rPr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Improve handling of imbalanced data</a:t>
            </a:r>
            <a:endParaRPr sz="13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337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5"/>
              <a:buChar char="●"/>
            </a:pPr>
            <a:r>
              <a:rPr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Use model comparison to select </a:t>
            </a:r>
            <a:r>
              <a:rPr b="1"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best-performing model</a:t>
            </a:r>
            <a:endParaRPr b="1" sz="13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b="1" sz="11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164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New Approach</a:t>
            </a:r>
            <a:endParaRPr b="1" sz="164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3373" lvl="0" marL="5969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335"/>
              <a:buChar char="●"/>
            </a:pPr>
            <a:r>
              <a:rPr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hybrid ML approach</a:t>
            </a:r>
            <a:r>
              <a:rPr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(like combining models)</a:t>
            </a:r>
            <a:endParaRPr sz="13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337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5"/>
              <a:buChar char="●"/>
            </a:pPr>
            <a:r>
              <a:rPr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Add </a:t>
            </a:r>
            <a:r>
              <a:rPr b="1"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feature analysis</a:t>
            </a:r>
            <a:r>
              <a:rPr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to understand key factors</a:t>
            </a:r>
            <a:endParaRPr sz="13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337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5"/>
              <a:buChar char="●"/>
            </a:pPr>
            <a:r>
              <a:rPr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Provide </a:t>
            </a:r>
            <a:r>
              <a:rPr b="1"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risk classification (High / Low)</a:t>
            </a:r>
            <a:r>
              <a:rPr lang="en-US" sz="13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for students</a:t>
            </a:r>
            <a:endParaRPr sz="13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1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164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Expected Outcome</a:t>
            </a:r>
            <a:endParaRPr b="1" sz="164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7023" lvl="0" marL="59690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235"/>
              <a:buChar char="●"/>
            </a:pPr>
            <a:r>
              <a:rPr lang="en-US" sz="12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More accurate dropout prediction</a:t>
            </a:r>
            <a:endParaRPr sz="12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702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5"/>
              <a:buChar char="●"/>
            </a:pPr>
            <a:r>
              <a:rPr lang="en-US" sz="12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Better identification of at-risk students</a:t>
            </a:r>
            <a:endParaRPr sz="12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702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5"/>
              <a:buChar char="●"/>
            </a:pPr>
            <a:r>
              <a:rPr lang="en-US" sz="12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Helps in </a:t>
            </a:r>
            <a:r>
              <a:rPr b="1" lang="en-US" sz="12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early intervention and support</a:t>
            </a:r>
            <a:endParaRPr b="1" sz="12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7023" lvl="0" marL="596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5"/>
              <a:buChar char="●"/>
            </a:pPr>
            <a:r>
              <a:rPr lang="en-US" sz="1235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Improves student retention </a:t>
            </a:r>
            <a:endParaRPr sz="1235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24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Conclusion</a:t>
            </a:r>
            <a:endParaRPr/>
          </a:p>
        </p:txBody>
      </p:sp>
      <p:sp>
        <p:nvSpPr>
          <p:cNvPr id="227" name="Google Shape;227;p12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This study shows that machine learning can effectively predict student dropout using a hybrid approach, helping universities take early action.</a:t>
            </a:r>
            <a:endParaRPr sz="19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Key Learnings</a:t>
            </a:r>
            <a:endParaRPr b="1" sz="17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5969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22222"/>
              </a:buClr>
              <a:buSzPts val="1900"/>
              <a:buChar char="●"/>
            </a:pPr>
            <a:r>
              <a:rPr lang="en-US" sz="19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Importance of good data &amp; features</a:t>
            </a:r>
            <a:endParaRPr sz="19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Char char="●"/>
            </a:pPr>
            <a:r>
              <a:rPr lang="en-US" sz="19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Handling imbalanced data is crucial</a:t>
            </a:r>
            <a:endParaRPr sz="19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Char char="●"/>
            </a:pPr>
            <a:r>
              <a:rPr lang="en-US" sz="19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Combining models improves performance</a:t>
            </a:r>
            <a:endParaRPr sz="19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92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Char char="●"/>
            </a:pPr>
            <a:r>
              <a:rPr lang="en-US" sz="19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ML has real-world applications in education</a:t>
            </a:r>
            <a:endParaRPr sz="19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References</a:t>
            </a:r>
            <a:endParaRPr/>
          </a:p>
        </p:txBody>
      </p:sp>
      <p:sp>
        <p:nvSpPr>
          <p:cNvPr id="233" name="Google Shape;233;p13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Paper 1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8399"/>
              <a:buFont typeface="Arial"/>
              <a:buNone/>
            </a:pPr>
            <a:r>
              <a:rPr b="1" lang="en-US" sz="2865"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lang="en-US" sz="3137">
                <a:latin typeface="Arial"/>
                <a:ea typeface="Arial"/>
                <a:cs typeface="Arial"/>
                <a:sym typeface="Arial"/>
              </a:rPr>
              <a:t>illar, A., &amp; Andrade, C. R. V. (2024).</a:t>
            </a:r>
            <a:br>
              <a:rPr b="1" lang="en-US" sz="3137">
                <a:latin typeface="Arial"/>
                <a:ea typeface="Arial"/>
                <a:cs typeface="Arial"/>
                <a:sym typeface="Arial"/>
              </a:rPr>
            </a:br>
            <a:r>
              <a:rPr lang="en-US" sz="3137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3137">
                <a:latin typeface="Arial"/>
                <a:ea typeface="Arial"/>
                <a:cs typeface="Arial"/>
                <a:sym typeface="Arial"/>
              </a:rPr>
              <a:t>Supervised machine learning algorithms for predicting student dropout and academic success: A comparative study.</a:t>
            </a:r>
            <a:br>
              <a:rPr i="1" lang="en-US" sz="3137">
                <a:latin typeface="Arial"/>
                <a:ea typeface="Arial"/>
                <a:cs typeface="Arial"/>
                <a:sym typeface="Arial"/>
              </a:rPr>
            </a:br>
            <a:r>
              <a:rPr lang="en-US" sz="3137">
                <a:latin typeface="Arial"/>
                <a:ea typeface="Arial"/>
                <a:cs typeface="Arial"/>
                <a:sym typeface="Arial"/>
              </a:rPr>
              <a:t> Discover Artificial Intelligence.</a:t>
            </a:r>
            <a:endParaRPr sz="313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Paper 2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5070"/>
              <a:buFont typeface="Arial"/>
              <a:buNone/>
            </a:pPr>
            <a:r>
              <a:rPr b="1" lang="en-US" sz="3137">
                <a:latin typeface="Arial"/>
                <a:ea typeface="Arial"/>
                <a:cs typeface="Arial"/>
                <a:sym typeface="Arial"/>
              </a:rPr>
              <a:t>Marcolino, M. R., et al. (2025).</a:t>
            </a:r>
            <a:br>
              <a:rPr b="1" lang="en-US" sz="3137">
                <a:latin typeface="Arial"/>
                <a:ea typeface="Arial"/>
                <a:cs typeface="Arial"/>
                <a:sym typeface="Arial"/>
              </a:rPr>
            </a:br>
            <a:r>
              <a:rPr lang="en-US" sz="3137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3137">
                <a:latin typeface="Arial"/>
                <a:ea typeface="Arial"/>
                <a:cs typeface="Arial"/>
                <a:sym typeface="Arial"/>
              </a:rPr>
              <a:t>Student dropout prediction through machine learning optimization.</a:t>
            </a:r>
            <a:br>
              <a:rPr i="1" lang="en-US" sz="3137">
                <a:latin typeface="Arial"/>
                <a:ea typeface="Arial"/>
                <a:cs typeface="Arial"/>
                <a:sym typeface="Arial"/>
              </a:rPr>
            </a:br>
            <a:r>
              <a:rPr lang="en-US" sz="3137">
                <a:latin typeface="Arial"/>
                <a:ea typeface="Arial"/>
                <a:cs typeface="Arial"/>
                <a:sym typeface="Arial"/>
              </a:rPr>
              <a:t> Scientific Reports.</a:t>
            </a:r>
            <a:endParaRPr sz="313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Paper 3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8399"/>
              <a:buFont typeface="Arial"/>
              <a:buNone/>
            </a:pPr>
            <a:r>
              <a:rPr b="1" lang="en-US" sz="2865"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lang="en-US" sz="3137"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1" lang="en-US" sz="3137">
                <a:latin typeface="Arial"/>
                <a:ea typeface="Arial"/>
                <a:cs typeface="Arial"/>
                <a:sym typeface="Arial"/>
              </a:rPr>
              <a:t>o, J., et al. (2023).</a:t>
            </a:r>
            <a:br>
              <a:rPr b="1" lang="en-US" sz="3137">
                <a:latin typeface="Arial"/>
                <a:ea typeface="Arial"/>
                <a:cs typeface="Arial"/>
                <a:sym typeface="Arial"/>
              </a:rPr>
            </a:br>
            <a:r>
              <a:rPr lang="en-US" sz="3137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3137">
                <a:latin typeface="Arial"/>
                <a:ea typeface="Arial"/>
                <a:cs typeface="Arial"/>
                <a:sym typeface="Arial"/>
              </a:rPr>
              <a:t>A study on dropout prediction for university students using machine learning.</a:t>
            </a:r>
            <a:endParaRPr i="1" sz="313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0181"/>
              <a:buFont typeface="Arial"/>
              <a:buNone/>
            </a:pPr>
            <a:r>
              <a:t/>
            </a:r>
            <a:endParaRPr i="1" sz="137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Paper 4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5070"/>
              <a:buFont typeface="Arial"/>
              <a:buNone/>
            </a:pPr>
            <a:r>
              <a:rPr b="1" lang="en-US" sz="3137">
                <a:latin typeface="Arial"/>
                <a:ea typeface="Arial"/>
                <a:cs typeface="Arial"/>
                <a:sym typeface="Arial"/>
              </a:rPr>
              <a:t>Kim, H., et al. (2023).</a:t>
            </a:r>
            <a:br>
              <a:rPr b="1" lang="en-US" sz="3137">
                <a:latin typeface="Arial"/>
                <a:ea typeface="Arial"/>
                <a:cs typeface="Arial"/>
                <a:sym typeface="Arial"/>
              </a:rPr>
            </a:br>
            <a:r>
              <a:rPr lang="en-US" sz="3137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3137">
                <a:latin typeface="Arial"/>
                <a:ea typeface="Arial"/>
                <a:cs typeface="Arial"/>
                <a:sym typeface="Arial"/>
              </a:rPr>
              <a:t>Student dropout prediction for university with high precision.</a:t>
            </a:r>
            <a:endParaRPr i="1" sz="313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