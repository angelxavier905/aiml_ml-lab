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g57Es3LmFMVKXC1+p4MxMJALBU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703398e81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703398e8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703398e81_6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703398e81_6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idx="1" type="body"/>
          </p:nvPr>
        </p:nvSpPr>
        <p:spPr>
          <a:xfrm>
            <a:off x="237125" y="456000"/>
            <a:ext cx="9144000" cy="56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73"/>
              <a:t>Project Title: Dropout Risk Detection</a:t>
            </a:r>
            <a:endParaRPr b="1" sz="3673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Student Name: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Angel Xavier-01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Taanshu Babariya-03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Mariam Badure-04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Jaden Borges-08</a:t>
            </a:r>
            <a:endParaRPr/>
          </a:p>
          <a:p>
            <a:pPr indent="114300" lvl="0" marL="8001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 Batch: A1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Course: ML Mini Project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Guide Name: Dr. Joanne Gomes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1470" lvl="0" marL="342900" rtl="0" algn="l">
              <a:spcBef>
                <a:spcPts val="480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Institute Name: St. Francis Institute of Technology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Problem Statement (Revised)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55124" lvl="0" marL="342900" rtl="0" algn="l">
              <a:spcBef>
                <a:spcPts val="480"/>
              </a:spcBef>
              <a:spcAft>
                <a:spcPts val="0"/>
              </a:spcAft>
              <a:buSzPct val="127083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Many students drop out due to low performance and lack of engagement.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55124" lvl="0" marL="342900" rtl="0" algn="l">
              <a:spcBef>
                <a:spcPts val="480"/>
              </a:spcBef>
              <a:spcAft>
                <a:spcPts val="0"/>
              </a:spcAft>
              <a:buSzPct val="127083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Institutes need a reliable way to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identify at-risk students early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55124" lvl="0" marL="342900" rtl="0" algn="l">
              <a:spcBef>
                <a:spcPts val="480"/>
              </a:spcBef>
              <a:spcAft>
                <a:spcPts val="0"/>
              </a:spcAft>
              <a:buSzPct val="127083"/>
              <a:buFont typeface="Arial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Existing systems lack real-time prediction and behavioral analysis.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55124" lvl="0" marL="342900" rtl="0" algn="l">
              <a:spcBef>
                <a:spcPts val="480"/>
              </a:spcBef>
              <a:spcAft>
                <a:spcPts val="0"/>
              </a:spcAft>
              <a:buSzPct val="127083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This study focuses on using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student data + machine learning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to classify students as At-Risk/Not At-Risk.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55124" lvl="0" marL="342900" rtl="0" algn="l">
              <a:spcBef>
                <a:spcPts val="480"/>
              </a:spcBef>
              <a:spcAft>
                <a:spcPts val="0"/>
              </a:spcAft>
              <a:buSzPct val="127083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Goal: build an accurate prediction model to support early intervention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0" y="0"/>
            <a:ext cx="91440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Dataset Details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457200" y="751275"/>
            <a:ext cx="8397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Dataset Source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Name: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i="1" lang="en-US" sz="1100">
                <a:latin typeface="Arial"/>
                <a:ea typeface="Arial"/>
                <a:cs typeface="Arial"/>
                <a:sym typeface="Arial"/>
              </a:rPr>
              <a:t>Predict Students' Dropout and Academic Success</a:t>
            </a:r>
            <a:endParaRPr i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Source: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Kaggle / UCI Machine Learning Repository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Number of Samples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Rows (instances):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4,424 students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Features: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36 input features + 1 target column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Feature Description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The dataset includes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student demographic, academic, financial, family, and economic details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Demographic: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gender, age, nationality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Academic: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course, previous grades, semester performance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Financial: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fees status, scholarship, debtor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Family: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parents’ education &amp; occupation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Economic: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unemployment, inflation, GDP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703398e81_0_29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8768"/>
              <a:buFont typeface="Arial"/>
              <a:buNone/>
            </a:pPr>
            <a:r>
              <a:rPr b="1" lang="en-US" sz="2256"/>
              <a:t>Sample Data Snapshot</a:t>
            </a:r>
            <a:endParaRPr b="1" sz="2256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102" name="Google Shape;102;g38703398e81_0_29"/>
          <p:cNvSpPr txBox="1"/>
          <p:nvPr>
            <p:ph idx="1" type="body"/>
          </p:nvPr>
        </p:nvSpPr>
        <p:spPr>
          <a:xfrm>
            <a:off x="457200" y="1167788"/>
            <a:ext cx="8229600" cy="510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g38703398e81_0_29" title="Screenshot 2026-04-08 1334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438" y="782275"/>
            <a:ext cx="8891123" cy="442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Data Understanding</a:t>
            </a:r>
            <a:endParaRPr/>
          </a:p>
        </p:txBody>
      </p:sp>
      <p:sp>
        <p:nvSpPr>
          <p:cNvPr id="109" name="Google Shape;109;p4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Types of Data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Numerical: grades, age, GDP, inflation, unemployment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Categorical: gender, course, marital status, scholarship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Dataset includes continuous, integer, and categorical values.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Missing Values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No missing values in the final dataset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2730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Missing and anomalous records were already handled during preprocessing by the dataset creators.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Data Distribution Insights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Class imbalance present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More Graduate samples than Dropout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Semester grades and approved credits strongly influence the target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Academic features are the most predictive factors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390100" y="136526"/>
            <a:ext cx="82296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Preprocessing Plan</a:t>
            </a:r>
            <a:endParaRPr/>
          </a:p>
        </p:txBody>
      </p:sp>
      <p:sp>
        <p:nvSpPr>
          <p:cNvPr id="115" name="Google Shape;115;p5"/>
          <p:cNvSpPr txBox="1"/>
          <p:nvPr>
            <p:ph idx="1" type="body"/>
          </p:nvPr>
        </p:nvSpPr>
        <p:spPr>
          <a:xfrm>
            <a:off x="229125" y="1355588"/>
            <a:ext cx="8229600" cy="5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Handling Missing Values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No missing values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Dataset is already cleaned and ready to use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Encoding Categorical Variables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No additional encoding required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All categorical fields are already label encoded as numeric values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Features can be directly used for ML models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Normalization / Scaling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Use StandardScaler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Important for Logistic Regression, SVM, DNN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Less important for tree-based models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System Block Diagram</a:t>
            </a:r>
            <a:endParaRPr/>
          </a:p>
        </p:txBody>
      </p:sp>
      <p:sp>
        <p:nvSpPr>
          <p:cNvPr id="121" name="Google Shape;121;p6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Input → Processing → Model → Output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9785" l="2577" r="1966" t="7782"/>
          <a:stretch/>
        </p:blipFill>
        <p:spPr>
          <a:xfrm>
            <a:off x="207813" y="2153800"/>
            <a:ext cx="8728374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type="title"/>
          </p:nvPr>
        </p:nvSpPr>
        <p:spPr>
          <a:xfrm>
            <a:off x="457200" y="105351"/>
            <a:ext cx="82296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UML Diagrams</a:t>
            </a:r>
            <a:endParaRPr/>
          </a:p>
        </p:txBody>
      </p:sp>
      <p:sp>
        <p:nvSpPr>
          <p:cNvPr id="128" name="Google Shape;128;p7"/>
          <p:cNvSpPr txBox="1"/>
          <p:nvPr>
            <p:ph idx="1" type="body"/>
          </p:nvPr>
        </p:nvSpPr>
        <p:spPr>
          <a:xfrm>
            <a:off x="457200" y="1136613"/>
            <a:ext cx="8229600" cy="5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 Case Diagram</a:t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29" name="Google Shape;1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3" y="1936153"/>
            <a:ext cx="8022625" cy="437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703398e81_6_1"/>
          <p:cNvSpPr txBox="1"/>
          <p:nvPr>
            <p:ph idx="1" type="body"/>
          </p:nvPr>
        </p:nvSpPr>
        <p:spPr>
          <a:xfrm>
            <a:off x="172961" y="252627"/>
            <a:ext cx="8529300" cy="6016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Activity Diagram</a:t>
            </a:r>
            <a:endParaRPr/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g38703398e81_6_1"/>
          <p:cNvPicPr preferRelativeResize="0"/>
          <p:nvPr/>
        </p:nvPicPr>
        <p:blipFill rotWithShape="1">
          <a:blip r:embed="rId3">
            <a:alphaModFix/>
          </a:blip>
          <a:srcRect b="3311" l="13732" r="11880" t="4718"/>
          <a:stretch/>
        </p:blipFill>
        <p:spPr>
          <a:xfrm>
            <a:off x="472788" y="813725"/>
            <a:ext cx="8198426" cy="553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Algorithm Selection</a:t>
            </a:r>
            <a:endParaRPr/>
          </a:p>
        </p:txBody>
      </p:sp>
      <p:sp>
        <p:nvSpPr>
          <p:cNvPr id="141" name="Google Shape;141;p8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Algorithms Shortlisted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Reason for Choosing Each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Logistic Regression: simple, fast, and strong baseline classifier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Random Forest: handles non-linearity, reduces overfitting, gives feature importance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Gradient Boosting: high accuracy by learning from previous model errors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Baseline Model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Baseline: Logistic Regression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Chosen because it is easy to train, interpretable, and widely used for classification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Feature Selection</a:t>
            </a:r>
            <a:endParaRPr/>
          </a:p>
        </p:txBody>
      </p:sp>
      <p:sp>
        <p:nvSpPr>
          <p:cNvPr id="147" name="Google Shape;147;p9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Selected Features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Personal: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age, gender, marital status, nationality, international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Academic background: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previous qualification, application mode/order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Semester performance: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enrolled, approved units, grades, evaluations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Financial/social: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fees status, debtor, scholarship, course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Economic/family: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unemployment, inflation, GDP, parents’ education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Justification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Semester approved units + grades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→ strongest academic predictors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Tuition fees, debtor, scholarship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→ financial stress indicators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Age and family background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→ personal support &amp; responsibility factors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Economic indicators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→ external stress on continuation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Domain Knowledge Used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Low grades → poor academic progress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Fee delays → financial hardship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Scholarship → higher motivation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Older/married students → more outside responsibilities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Evaluation Metrics for Project</a:t>
            </a:r>
            <a:endParaRPr/>
          </a:p>
        </p:txBody>
      </p:sp>
      <p:sp>
        <p:nvSpPr>
          <p:cNvPr id="153" name="Google Shape;153;p10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Performance Metrics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Accuracy: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overall correct predictions (</a:t>
            </a: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~88%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how many predicted dropouts were truly dropout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Recall: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how many real dropouts were correctly identified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F1 Score: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balance between precision and recall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ROC-AUC: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model’s ability to separate dropout vs non-dropout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br>
              <a:rPr lang="en-US" sz="1300">
                <a:latin typeface="Arial"/>
                <a:ea typeface="Arial"/>
                <a:cs typeface="Arial"/>
                <a:sym typeface="Arial"/>
              </a:rPr>
            </a:b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Why These Metrics?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Accuracy: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quick overall performance check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reduces false alarms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Recall: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most important — avoid missing real at-risk students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F1 Score: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useful for imbalanced data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ROC-AUC: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best for comparing multiple models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Tools &amp; Technologies</a:t>
            </a:r>
            <a:endParaRPr/>
          </a:p>
        </p:txBody>
      </p:sp>
      <p:sp>
        <p:nvSpPr>
          <p:cNvPr id="159" name="Google Shape;159;p11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Programming Language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Python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Chosen for strong ML ecosystem, easy syntax, and fast experimentation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Libraries Used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NumPy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→ numerical operations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Pandas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→ data loading &amp; preprocessing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Scikit-learn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→ train-test split, models, metrics, scaling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b="1" lang="en-US" sz="1300">
                <a:latin typeface="Arial"/>
                <a:ea typeface="Arial"/>
                <a:cs typeface="Arial"/>
                <a:sym typeface="Arial"/>
              </a:rPr>
              <a:t>Warnings</a:t>
            </a:r>
            <a:r>
              <a:rPr lang="en-US" sz="1300">
                <a:latin typeface="Arial"/>
                <a:ea typeface="Arial"/>
                <a:cs typeface="Arial"/>
                <a:sym typeface="Arial"/>
              </a:rPr>
              <a:t> → suppress unnecessary warnings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Platform / Tools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Google Colab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Python environment with Scikit-learn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Dataset from Kaggle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"/>
          <p:cNvSpPr txBox="1"/>
          <p:nvPr>
            <p:ph type="title"/>
          </p:nvPr>
        </p:nvSpPr>
        <p:spPr>
          <a:xfrm>
            <a:off x="457200" y="136525"/>
            <a:ext cx="8229600" cy="66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Initial Implementation</a:t>
            </a:r>
            <a:endParaRPr/>
          </a:p>
        </p:txBody>
      </p:sp>
      <p:sp>
        <p:nvSpPr>
          <p:cNvPr id="165" name="Google Shape;165;p12"/>
          <p:cNvSpPr txBox="1"/>
          <p:nvPr>
            <p:ph idx="1" type="body"/>
          </p:nvPr>
        </p:nvSpPr>
        <p:spPr>
          <a:xfrm>
            <a:off x="268300" y="798025"/>
            <a:ext cx="8418600" cy="59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Data loaded successfully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Preprocessing completed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Logistic Regression model trained 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66" name="Google Shape;166;p12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475" y="1285775"/>
            <a:ext cx="4453925" cy="107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2" title="imag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2851750"/>
            <a:ext cx="3767475" cy="9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2" title="image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" y="4164025"/>
            <a:ext cx="3433175" cy="260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Initial Results</a:t>
            </a:r>
            <a:endParaRPr/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61950" lvl="0" marL="342900" rtl="0" algn="l">
              <a:spcBef>
                <a:spcPts val="480"/>
              </a:spcBef>
              <a:spcAft>
                <a:spcPts val="0"/>
              </a:spcAft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Accuracy: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88.02%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61950" lvl="0" marL="342900" rtl="0" algn="l">
              <a:spcBef>
                <a:spcPts val="480"/>
              </a:spcBef>
              <a:spcAft>
                <a:spcPts val="0"/>
              </a:spcAft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ROC-AUC: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0.9289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61950" lvl="0" marL="342900" rtl="0" algn="l">
              <a:spcBef>
                <a:spcPts val="480"/>
              </a:spcBef>
              <a:spcAft>
                <a:spcPts val="0"/>
              </a:spcAft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0.87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61950" lvl="0" marL="342900" rtl="0" algn="l">
              <a:spcBef>
                <a:spcPts val="480"/>
              </a:spcBef>
              <a:spcAft>
                <a:spcPts val="0"/>
              </a:spcAft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Recall: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0.73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61950" lvl="0" marL="342900" rtl="0" algn="l">
              <a:spcBef>
                <a:spcPts val="480"/>
              </a:spcBef>
              <a:spcAft>
                <a:spcPts val="0"/>
              </a:spcAft>
              <a:buSzPts val="2700"/>
              <a:buChar char="•"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F1-Score: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0.80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Observations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Strong overall accuracy (88%)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High performance in identifying non-dropout students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Recall of 73% means most at-risk students were detected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Some 76 dropout students were missed, so recall can still improve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Good baseline model for comparison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75" name="Google Shape;17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00" y="3158350"/>
            <a:ext cx="3714750" cy="80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4"/>
          <p:cNvSpPr txBox="1"/>
          <p:nvPr>
            <p:ph type="title"/>
          </p:nvPr>
        </p:nvSpPr>
        <p:spPr>
          <a:xfrm>
            <a:off x="457200" y="136526"/>
            <a:ext cx="8229600" cy="92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400"/>
              <a:t>Challenges Faced</a:t>
            </a:r>
            <a:endParaRPr b="1" sz="3400"/>
          </a:p>
        </p:txBody>
      </p:sp>
      <p:sp>
        <p:nvSpPr>
          <p:cNvPr id="181" name="Google Shape;181;p14"/>
          <p:cNvSpPr txBox="1"/>
          <p:nvPr>
            <p:ph idx="1" type="body"/>
          </p:nvPr>
        </p:nvSpPr>
        <p:spPr>
          <a:xfrm>
            <a:off x="274825" y="1404901"/>
            <a:ext cx="8772000" cy="56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• Understanding dataset features and their meaning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• Handling class imbalance in dropout data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• Selecting the most relevant features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• Choosing appropriate ML models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Improving recall for dropout prediction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Plan for Next Phase</a:t>
            </a:r>
            <a:endParaRPr/>
          </a:p>
        </p:txBody>
      </p:sp>
      <p:sp>
        <p:nvSpPr>
          <p:cNvPr id="187" name="Google Shape;187;p15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Model Improvement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Tune hyperparameters for better recall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Try XGBoost / LightGBM / Deep Learning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Use SMOTE for better class balance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Perform advanced feature selection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UI / Deployment Plan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Build a web dashboard using Streamlit / Flask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Input student details manually or via CSV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Show dropout risk score + intervention suggestions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Deploy on Render / Hugging Face / Streamlit Cloud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700">
                <a:latin typeface="Arial"/>
                <a:ea typeface="Arial"/>
                <a:cs typeface="Arial"/>
                <a:sym typeface="Arial"/>
              </a:rPr>
              <a:t>Paper Writing Start</a:t>
            </a:r>
            <a:endParaRPr b="1" sz="17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Document problem statement, dataset, methodology, results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Compare shortlisted models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Include graphs, confusion matrix, ROC curves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>
                <a:latin typeface="Arial"/>
                <a:ea typeface="Arial"/>
                <a:cs typeface="Arial"/>
                <a:sym typeface="Arial"/>
              </a:rPr>
              <a:t>Write future scope and real-world education impact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Deliverables</a:t>
            </a:r>
            <a:endParaRPr/>
          </a:p>
        </p:txBody>
      </p:sp>
      <p:sp>
        <p:nvSpPr>
          <p:cNvPr id="193" name="Google Shape;193;p16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Deliverable 1: Dataset file (.csv)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• Student dataset from Kaggle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Deliverable 2: Jupyter Notebook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• Data loading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• Data preprocessing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• At least one ML model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• Model evaluation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Deliverable 3: GitHub Repository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• Complete project uploaded on GitHub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• Link: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https://github.com/taanshubabariya-cyber/AIML-ML-LAB-03/tree/main/Mini_Project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Deliverable 4: Block Diagram Image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-US"/>
              <a:t>• System architecture diagram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 txBox="1"/>
          <p:nvPr>
            <p:ph type="title"/>
          </p:nvPr>
        </p:nvSpPr>
        <p:spPr>
          <a:xfrm>
            <a:off x="457200" y="136526"/>
            <a:ext cx="8229600" cy="921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300"/>
              <a:t>References</a:t>
            </a:r>
            <a:endParaRPr b="1" sz="3300"/>
          </a:p>
        </p:txBody>
      </p:sp>
      <p:sp>
        <p:nvSpPr>
          <p:cNvPr id="199" name="Google Shape;199;p17"/>
          <p:cNvSpPr txBox="1"/>
          <p:nvPr>
            <p:ph idx="1" type="body"/>
          </p:nvPr>
        </p:nvSpPr>
        <p:spPr>
          <a:xfrm>
            <a:off x="457200" y="1167788"/>
            <a:ext cx="8229600" cy="510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• Kaggle Dataset: Predict Students’ Dropout and Academic Success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Villar &amp; Andrade (2024) – Discover AI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Marcolino et al. (2025) – Scientific Reports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Cho et al. (2023) – Applied Sciences 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• Kim et al. (2023) – Applied Sciences 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