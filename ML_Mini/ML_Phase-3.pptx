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dTnQKeJHoFney8jBdvZLxGGqZ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EA48D9-3CF4-4C9E-9744-5A3A3E39FA28}">
  <a:tblStyle styleId="{78EA48D9-3CF4-4C9E-9744-5A3A3E39FA2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3C1AA68-B2C2-4913-8C5F-AADE0B30E65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74f38bdc0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74f38bdc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74f38bdc0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74f38bdc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74f38bdc0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74f38bdc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idx="1" type="body"/>
          </p:nvPr>
        </p:nvSpPr>
        <p:spPr>
          <a:xfrm>
            <a:off x="457200" y="405000"/>
            <a:ext cx="8229600" cy="58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3673"/>
              <a:t>Project Title: Dropout Risk Detection</a:t>
            </a:r>
            <a:endParaRPr b="1" sz="3673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Student Name:</a:t>
            </a:r>
            <a:endParaRPr/>
          </a:p>
          <a:p>
            <a:pPr indent="114300" lvl="0" marL="8001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Angel Xavier-01</a:t>
            </a:r>
            <a:endParaRPr/>
          </a:p>
          <a:p>
            <a:pPr indent="114300" lvl="0" marL="8001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Taanshu Babariya-03</a:t>
            </a:r>
            <a:endParaRPr/>
          </a:p>
          <a:p>
            <a:pPr indent="114300" lvl="0" marL="8001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Mariam Badure-04</a:t>
            </a:r>
            <a:endParaRPr/>
          </a:p>
          <a:p>
            <a:pPr indent="114300" lvl="0" marL="8001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Jaden Borges-08</a:t>
            </a:r>
            <a:endParaRPr/>
          </a:p>
          <a:p>
            <a:pPr indent="114300" lvl="0" marL="8001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 Batch: A1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Course: ML Mini Project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Guide Name: Dr. Joanne Gomes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Institute Name: St. Francis Institute of Technology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Problem Statement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Many students drop out due to low performance, poor attendance, and weak engagement.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Existing systems fail to provide early, real-time risk prediction.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This project uses student data + ML to classify At-Risk / Not At-Risk students for timely intervention.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latin typeface="Arial"/>
                <a:ea typeface="Arial"/>
                <a:cs typeface="Arial"/>
                <a:sym typeface="Arial"/>
              </a:rPr>
              <a:t>Objectives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Build an accurate ML prediction model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Compare algorithms and identify key dropout factors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Generate early alerts for support actions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latin typeface="Arial"/>
                <a:ea typeface="Arial"/>
                <a:cs typeface="Arial"/>
                <a:sym typeface="Arial"/>
              </a:rPr>
              <a:t>SDG Mapping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United Nations SDG 4 – Quality Education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United Nations SDG 10 – Reduced Inequalities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United Nations SDG 9 – Innovation in Education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latin typeface="Arial"/>
                <a:ea typeface="Arial"/>
                <a:cs typeface="Arial"/>
                <a:sym typeface="Arial"/>
              </a:rPr>
              <a:t>Social Usefulness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Reduces dropout rates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Improves student success and retention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Enables better counseling and institutional decisions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Builds a skilled workforce for society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494100" y="-31025"/>
            <a:ext cx="81558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Literature Summary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0" y="649119"/>
            <a:ext cx="7453800" cy="51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97" name="Google Shape;97;p3"/>
          <p:cNvGraphicFramePr/>
          <p:nvPr/>
        </p:nvGraphicFramePr>
        <p:xfrm>
          <a:off x="325043" y="7711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{78EA48D9-3CF4-4C9E-9744-5A3A3E39FA28}</a:tableStyleId>
              </a:tblPr>
              <a:tblGrid>
                <a:gridCol w="886650"/>
                <a:gridCol w="1215375"/>
                <a:gridCol w="2092050"/>
                <a:gridCol w="1580000"/>
                <a:gridCol w="1607900"/>
                <a:gridCol w="1279125"/>
              </a:tblGrid>
              <a:tr h="36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Ref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Author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Problem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Dataset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Method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Features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[</a:t>
                      </a:r>
                      <a:r>
                        <a:rPr lang="en-IN" sz="1800" u="none" cap="none" strike="noStrike"/>
                        <a:t>1]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Villar &amp; Andrade, 2024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Limited to single dataset, lacks real-time deployment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Real-world university dataset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Multiple ML models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Academic + student records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[2]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Marcolino et al., 2025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Depends only on LMS logs, ignores socio-economic factors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LMS / </a:t>
                      </a:r>
                      <a:r>
                        <a:rPr lang="en-IN" sz="1800"/>
                        <a:t>Moodle logs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CatBoost + NSGA-II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Clickstream, engagement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5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[3]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Cho et al., 2023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Focuses only on academic performance, missing emotional/behavioral factors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Large academic dataset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Multi-model + SMOTE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Grades, attendance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[4]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Kim et al., 2023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Complex hybrid model, difficult to generalize across universities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Single university dataset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Hybrid ML + SHAP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Academic + clustering features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8" name="Google Shape;98;p3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{78EA48D9-3CF4-4C9E-9744-5A3A3E39FA28}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Literature Summary</a:t>
            </a:r>
            <a:endParaRPr/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105" name="Google Shape;105;p4"/>
          <p:cNvGraphicFramePr/>
          <p:nvPr/>
        </p:nvGraphicFramePr>
        <p:xfrm>
          <a:off x="457199" y="11678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{78EA48D9-3CF4-4C9E-9744-5A3A3E39FA28}</a:tableStyleId>
              </a:tblPr>
              <a:tblGrid>
                <a:gridCol w="628700"/>
                <a:gridCol w="1483925"/>
                <a:gridCol w="2248275"/>
                <a:gridCol w="1668150"/>
                <a:gridCol w="220055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Ref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Accuracy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Limitations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Research Gap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Your Contribution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[1]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91%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Single dataset, no deployment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No real-time student monitoring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Lightweight real-time risk prediction model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[2]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85%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LMS-only data, limited scope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Missing academic + behavioral fusion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Multi-feature academic + engagement model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[3]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89%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Only Academic Features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Ignores emotional &amp; engagement signals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Add attendance + engagement + performance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[4]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93%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Complex hybrid model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Hard to generalize across institutes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Simple interpretable ML pipeline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Research Gaps Identified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Research Gaps</a:t>
            </a:r>
            <a:endParaRPr b="1" sz="130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IN" sz="170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Limited to single dataset</a:t>
            </a:r>
            <a:endParaRPr sz="170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IN" sz="170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No real-time implementation</a:t>
            </a:r>
            <a:endParaRPr sz="170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IN" sz="170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Limited feature diversity</a:t>
            </a:r>
            <a:endParaRPr sz="170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Improvements (Realistic)</a:t>
            </a:r>
            <a:endParaRPr b="1" sz="130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IN" sz="170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Add more relevant features (attendance, engagement)</a:t>
            </a:r>
            <a:endParaRPr sz="170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IN" sz="170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Improve data balancing techniques</a:t>
            </a:r>
            <a:endParaRPr sz="170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IN" sz="170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Test with different ML models</a:t>
            </a:r>
            <a:endParaRPr sz="170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Possible Extensions (Future Scope)</a:t>
            </a:r>
            <a:endParaRPr b="1" sz="130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IN" sz="170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Multi-university dataset integration</a:t>
            </a:r>
            <a:endParaRPr sz="170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IN" sz="170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Real-time prediction system</a:t>
            </a:r>
            <a:endParaRPr sz="170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IN" sz="170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Integration with LMS platforms</a:t>
            </a:r>
            <a:endParaRPr sz="170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System Architecture</a:t>
            </a:r>
            <a:endParaRPr/>
          </a:p>
        </p:txBody>
      </p:sp>
      <p:pic>
        <p:nvPicPr>
          <p:cNvPr id="117" name="Google Shape;117;p6" title="print block_page-00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14" y="1057626"/>
            <a:ext cx="8757376" cy="6187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Dataset &amp; Pre-processing</a:t>
            </a:r>
            <a:endParaRPr/>
          </a:p>
        </p:txBody>
      </p:sp>
      <p:sp>
        <p:nvSpPr>
          <p:cNvPr id="123" name="Google Shape;123;p7"/>
          <p:cNvSpPr txBox="1"/>
          <p:nvPr>
            <p:ph idx="1" type="body"/>
          </p:nvPr>
        </p:nvSpPr>
        <p:spPr>
          <a:xfrm>
            <a:off x="179925" y="1057625"/>
            <a:ext cx="9421200" cy="5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700">
                <a:latin typeface="Arial"/>
                <a:ea typeface="Arial"/>
                <a:cs typeface="Arial"/>
                <a:sym typeface="Arial"/>
              </a:rPr>
              <a:t>Dataset Description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35">
                <a:latin typeface="Arial"/>
                <a:ea typeface="Arial"/>
                <a:cs typeface="Arial"/>
                <a:sym typeface="Arial"/>
              </a:rPr>
              <a:t>The dataset (dataset.csv) contains student-related information used to predict whether a student will drop out, graduate, or remain enrolled .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35">
                <a:latin typeface="Arial"/>
                <a:ea typeface="Arial"/>
                <a:cs typeface="Arial"/>
                <a:sym typeface="Arial"/>
              </a:rPr>
              <a:t>It includes a mix of: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-31335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35"/>
              <a:buChar char="●"/>
            </a:pPr>
            <a:r>
              <a:rPr lang="en-IN" sz="1335">
                <a:latin typeface="Arial"/>
                <a:ea typeface="Arial"/>
                <a:cs typeface="Arial"/>
                <a:sym typeface="Arial"/>
              </a:rPr>
              <a:t>Demographic features: Age at enrollment, gender, nationality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-3133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35"/>
              <a:buChar char="●"/>
            </a:pPr>
            <a:r>
              <a:rPr lang="en-IN" sz="1335">
                <a:latin typeface="Arial"/>
                <a:ea typeface="Arial"/>
                <a:cs typeface="Arial"/>
                <a:sym typeface="Arial"/>
              </a:rPr>
              <a:t>Socio-economic features: Scholarship status, debtor status, tuition fee payment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-3133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35"/>
              <a:buChar char="●"/>
            </a:pPr>
            <a:r>
              <a:rPr lang="en-IN" sz="1335">
                <a:latin typeface="Arial"/>
                <a:ea typeface="Arial"/>
                <a:cs typeface="Arial"/>
                <a:sym typeface="Arial"/>
              </a:rPr>
              <a:t>Academic features: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-31335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35"/>
              <a:buChar char="○"/>
            </a:pPr>
            <a:r>
              <a:rPr lang="en-IN" sz="1335">
                <a:latin typeface="Arial"/>
                <a:ea typeface="Arial"/>
                <a:cs typeface="Arial"/>
                <a:sym typeface="Arial"/>
              </a:rPr>
              <a:t>Curricular units (enrolled, evaluated, approved) for 1st and 2nd semester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-31335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35"/>
              <a:buChar char="○"/>
            </a:pPr>
            <a:r>
              <a:rPr lang="en-IN" sz="1335">
                <a:latin typeface="Arial"/>
                <a:ea typeface="Arial"/>
                <a:cs typeface="Arial"/>
                <a:sym typeface="Arial"/>
              </a:rPr>
              <a:t>Grades and performance indicators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-3133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35"/>
              <a:buChar char="●"/>
            </a:pPr>
            <a:r>
              <a:rPr lang="en-IN" sz="1335">
                <a:latin typeface="Arial"/>
                <a:ea typeface="Arial"/>
                <a:cs typeface="Arial"/>
                <a:sym typeface="Arial"/>
              </a:rPr>
              <a:t>Background information: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-31335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35"/>
              <a:buChar char="○"/>
            </a:pPr>
            <a:r>
              <a:rPr lang="en-IN" sz="1335">
                <a:latin typeface="Arial"/>
                <a:ea typeface="Arial"/>
                <a:cs typeface="Arial"/>
                <a:sym typeface="Arial"/>
              </a:rPr>
              <a:t>Parents’ qualifications and occupations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-31335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35"/>
              <a:buChar char="○"/>
            </a:pPr>
            <a:r>
              <a:rPr lang="en-IN" sz="1335">
                <a:latin typeface="Arial"/>
                <a:ea typeface="Arial"/>
                <a:cs typeface="Arial"/>
                <a:sym typeface="Arial"/>
              </a:rPr>
              <a:t>Previous qualification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-3133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35"/>
              <a:buChar char="●"/>
            </a:pPr>
            <a:r>
              <a:rPr lang="en-IN" sz="1335">
                <a:latin typeface="Arial"/>
                <a:ea typeface="Arial"/>
                <a:cs typeface="Arial"/>
                <a:sym typeface="Arial"/>
              </a:rPr>
              <a:t>Macro-economic indicators: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-31335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35"/>
              <a:buChar char="○"/>
            </a:pPr>
            <a:r>
              <a:rPr lang="en-IN" sz="1335">
                <a:latin typeface="Arial"/>
                <a:ea typeface="Arial"/>
                <a:cs typeface="Arial"/>
                <a:sym typeface="Arial"/>
              </a:rPr>
              <a:t>Unemployment rate, inflation rate, GDP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35">
                <a:latin typeface="Arial"/>
                <a:ea typeface="Arial"/>
                <a:cs typeface="Arial"/>
                <a:sym typeface="Arial"/>
              </a:rPr>
              <a:t>The target variable is: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-31335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35"/>
              <a:buChar char="●"/>
            </a:pPr>
            <a:r>
              <a:rPr lang="en-IN" sz="1335">
                <a:latin typeface="Arial"/>
                <a:ea typeface="Arial"/>
                <a:cs typeface="Arial"/>
                <a:sym typeface="Arial"/>
              </a:rPr>
              <a:t>Target → {Dropout, Graduate, Enrolled}</a:t>
            </a:r>
            <a:br>
              <a:rPr lang="en-IN" sz="1335">
                <a:latin typeface="Arial"/>
                <a:ea typeface="Arial"/>
                <a:cs typeface="Arial"/>
                <a:sym typeface="Arial"/>
              </a:rPr>
            </a:br>
            <a:r>
              <a:rPr lang="en-IN" sz="1335">
                <a:latin typeface="Arial"/>
                <a:ea typeface="Arial"/>
                <a:cs typeface="Arial"/>
                <a:sym typeface="Arial"/>
              </a:rPr>
              <a:t> Converted into: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-3133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35"/>
              <a:buChar char="●"/>
            </a:pPr>
            <a:r>
              <a:rPr lang="en-IN" sz="1335">
                <a:latin typeface="Arial"/>
                <a:ea typeface="Arial"/>
                <a:cs typeface="Arial"/>
                <a:sym typeface="Arial"/>
              </a:rPr>
              <a:t>Dropout (binary: 1 = Dropout, 0 = otherwise) 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74f38bdc0_0_1"/>
          <p:cNvSpPr txBox="1"/>
          <p:nvPr>
            <p:ph idx="1" type="body"/>
          </p:nvPr>
        </p:nvSpPr>
        <p:spPr>
          <a:xfrm>
            <a:off x="457200" y="1167788"/>
            <a:ext cx="8229600" cy="51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latin typeface="Arial"/>
                <a:ea typeface="Arial"/>
                <a:cs typeface="Arial"/>
                <a:sym typeface="Arial"/>
              </a:rPr>
              <a:t>Final Features Used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Only the most important features are updated: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Age at enrollment – reflects maturity and adaptability, which can influence continuation.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Scholarship holder – indicates financial support, reducing dropout risk.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Debtor – shows financial burden, increasing dropout risk.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Tuition fees up to date – reflects financial stability and commitment to studies.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Curricular units 1st sem (approved) – measures initial academic performance.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Curricular units 2nd sem (approved) – shows ongoing academic progress and consistency</a:t>
            </a:r>
            <a:r>
              <a:rPr lang="en-I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74f38bdc0_0_8"/>
          <p:cNvSpPr txBox="1"/>
          <p:nvPr>
            <p:ph idx="1" type="body"/>
          </p:nvPr>
        </p:nvSpPr>
        <p:spPr>
          <a:xfrm>
            <a:off x="547350" y="781438"/>
            <a:ext cx="8229600" cy="51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Preprocessing steps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g3d74f38bdc0_0_8" title="Gemini_Generated_Image_lt0s3clt0s3clt0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350" y="1708400"/>
            <a:ext cx="7888299" cy="430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Methodology</a:t>
            </a:r>
            <a:endParaRPr/>
          </a:p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700"/>
              <a:t>Algorithms used</a:t>
            </a:r>
            <a:endParaRPr b="1" sz="1700"/>
          </a:p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IN" sz="1300"/>
              <a:t>Logistic Regression</a:t>
            </a:r>
            <a:endParaRPr sz="1300"/>
          </a:p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IN" sz="1300"/>
              <a:t>Random Forest (with hyperparameter tuning)</a:t>
            </a:r>
            <a:endParaRPr sz="1300"/>
          </a:p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IN" sz="1300"/>
              <a:t>Gradient Boosting (final selected model)</a:t>
            </a:r>
            <a:endParaRPr sz="13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IN" sz="1700"/>
              <a:t>Model pipeline</a:t>
            </a:r>
            <a:endParaRPr b="1" sz="1700"/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300"/>
              <a:buChar char="•"/>
            </a:pPr>
            <a:r>
              <a:rPr lang="en-IN" sz="1300"/>
              <a:t>Data loading → preprocessing → train-test split</a:t>
            </a:r>
            <a:endParaRPr sz="1300"/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300"/>
              <a:buChar char="•"/>
            </a:pPr>
            <a:r>
              <a:rPr lang="en-IN" sz="1300"/>
              <a:t>Feature scaling using StandardScaler</a:t>
            </a:r>
            <a:endParaRPr sz="1300"/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300"/>
              <a:buChar char="•"/>
            </a:pPr>
            <a:r>
              <a:rPr lang="en-IN" sz="1300"/>
              <a:t>Apply SMOTE for imbalance handling</a:t>
            </a:r>
            <a:endParaRPr sz="1300"/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300"/>
              <a:buChar char="•"/>
            </a:pPr>
            <a:r>
              <a:rPr lang="en-IN" sz="1300"/>
              <a:t>Train models (LR, RF, GB)</a:t>
            </a:r>
            <a:endParaRPr sz="1300"/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300"/>
              <a:buChar char="•"/>
            </a:pPr>
            <a:r>
              <a:rPr lang="en-IN" sz="1300"/>
              <a:t>Evaluate using Accuracy, Precision, Recall, F1-score</a:t>
            </a:r>
            <a:endParaRPr sz="1300"/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300"/>
              <a:buChar char="•"/>
            </a:pPr>
            <a:r>
              <a:rPr lang="en-IN" sz="1300"/>
              <a:t>Select best model (Gradient Boosting)</a:t>
            </a:r>
            <a:endParaRPr sz="1300"/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300"/>
              <a:buChar char="•"/>
            </a:pPr>
            <a:r>
              <a:rPr lang="en-IN" sz="1300"/>
              <a:t>Take user input → update features → predict → assign risk level</a:t>
            </a:r>
            <a:endParaRPr sz="13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IN" sz="1700"/>
              <a:t>T</a:t>
            </a:r>
            <a:r>
              <a:rPr b="1" lang="en-IN" sz="1700"/>
              <a:t>ools &amp; technologies</a:t>
            </a:r>
            <a:endParaRPr b="1" sz="1700"/>
          </a:p>
          <a:p>
            <a:pPr indent="-311150" lvl="0" marL="457200" rtl="0" algn="l">
              <a:spcBef>
                <a:spcPts val="480"/>
              </a:spcBef>
              <a:spcAft>
                <a:spcPts val="0"/>
              </a:spcAft>
              <a:buSzPts val="1300"/>
              <a:buChar char="•"/>
            </a:pPr>
            <a:r>
              <a:rPr lang="en-IN" sz="1300"/>
              <a:t>Python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IN" sz="1300"/>
              <a:t>Google Colab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IN" sz="1300"/>
              <a:t>Libraries: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IN" sz="1300"/>
              <a:t>Pandas, NumPy (data handling)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IN" sz="1300"/>
              <a:t>Scikit-learn (ML models &amp; evaluation)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IN" sz="1300"/>
              <a:t>Imbalanced-learn (SMOTE)</a:t>
            </a:r>
            <a:endParaRPr sz="13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Model Comparison</a:t>
            </a:r>
            <a:endParaRPr/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700"/>
              <a:t>Comparison of all models</a:t>
            </a:r>
            <a:endParaRPr b="1" sz="17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Logistic Regression (with SMOTE)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Good recall (captures more dropouts)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Slightly lower precision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Random Forest (Tuned)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Balanced performance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Good precision but slightly lower recall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Gradient Boosting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Best overall performance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Highest accuracy and F1-score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Selected as final model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74f38bdc0_0_19"/>
          <p:cNvSpPr txBox="1"/>
          <p:nvPr>
            <p:ph idx="1" type="body"/>
          </p:nvPr>
        </p:nvSpPr>
        <p:spPr>
          <a:xfrm>
            <a:off x="457200" y="1167788"/>
            <a:ext cx="8229600" cy="51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IN" sz="1700"/>
              <a:t>Performance metrics table</a:t>
            </a:r>
            <a:endParaRPr b="1" sz="17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</p:txBody>
      </p:sp>
      <p:graphicFrame>
        <p:nvGraphicFramePr>
          <p:cNvPr id="152" name="Google Shape;152;g3d74f38bdc0_0_19"/>
          <p:cNvGraphicFramePr/>
          <p:nvPr/>
        </p:nvGraphicFramePr>
        <p:xfrm>
          <a:off x="457200" y="189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{83C1AA68-B2C2-4913-8C5F-AADE0B30E65E}</a:tableStyleId>
              </a:tblPr>
              <a:tblGrid>
                <a:gridCol w="1458375"/>
                <a:gridCol w="1458375"/>
                <a:gridCol w="1458375"/>
                <a:gridCol w="1458375"/>
                <a:gridCol w="1458375"/>
              </a:tblGrid>
              <a:tr h="71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F1 Score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0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Logistic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0.8746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0.7836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0.8415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0.8115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0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Random Forest (Tuned)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0.8825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0.8409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0.7817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0.8102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0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Gradient Boosting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0.8870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0.8333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0.8099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0.8214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Best Model &amp; Justification</a:t>
            </a:r>
            <a:endParaRPr/>
          </a:p>
        </p:txBody>
      </p:sp>
      <p:sp>
        <p:nvSpPr>
          <p:cNvPr id="158" name="Google Shape;158;p10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700"/>
              <a:t>Selected model with its evaluation metrics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Selected Model: Gradient Boosting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Accuracy: 0.8870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Precision: 0.8333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Recall: 0.8099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F1 Score: 0.8214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IN" sz="1700"/>
              <a:t>Reason for selection</a:t>
            </a:r>
            <a:endParaRPr b="1" sz="17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3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Achieved the highest F1-score, giving the best balance between precision and recall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3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Provided overall best performance among all models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3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More reliable for detecting dropout cases without too many false predictions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Results &amp; Analysis</a:t>
            </a:r>
            <a:endParaRPr/>
          </a:p>
        </p:txBody>
      </p:sp>
      <p:sp>
        <p:nvSpPr>
          <p:cNvPr id="164" name="Google Shape;164;p11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IN" sz="1700">
                <a:latin typeface="Arial"/>
                <a:ea typeface="Arial"/>
                <a:cs typeface="Arial"/>
                <a:sym typeface="Arial"/>
              </a:rPr>
              <a:t>Result Analysis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Models were evaluated using Accuracy, Precision, Recall, and F1-score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Gradient Boosting achieved the best performance with highest F1-score (0.8214)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Logistic Regression showed higher recall, while Random Forest showed better precision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Overall, Gradient Boosting provides the most balanced results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IN" sz="1700"/>
              <a:t>Key observations</a:t>
            </a:r>
            <a:endParaRPr b="1" sz="1700"/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3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Gradient Boosting is the best-performing model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3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Logistic Regression performs well in identifying more dropout cases (higher recall)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3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Random Forest provides balanced but slightly lower performance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spcBef>
                <a:spcPts val="480"/>
              </a:spcBef>
              <a:spcAft>
                <a:spcPts val="0"/>
              </a:spcAft>
              <a:buSzPts val="13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Model selection is based on F1-score comparison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System Demo</a:t>
            </a:r>
            <a:endParaRPr/>
          </a:p>
        </p:txBody>
      </p:sp>
      <p:pic>
        <p:nvPicPr>
          <p:cNvPr id="170" name="Google Shape;170;p12" title="demo_page-00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201" y="874900"/>
            <a:ext cx="484545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Contribution</a:t>
            </a:r>
            <a:endParaRPr/>
          </a:p>
        </p:txBody>
      </p:sp>
      <p:sp>
        <p:nvSpPr>
          <p:cNvPr id="176" name="Google Shape;176;p13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700"/>
              <a:t>What is new in your work</a:t>
            </a:r>
            <a:endParaRPr b="1" sz="1700"/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Users can enter their own details to check if they are at risk of dropout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System provides risk levels (Low, Medium, High) instead of just prediction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Gives a specific reason for dropout risk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Provides personalized suggestions to reduce the risk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IN" sz="1700"/>
              <a:t>Improvements over existing methods</a:t>
            </a:r>
            <a:endParaRPr b="1" sz="1700"/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Better handling of class imbalance using SMOTE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Compared multiple models and selected the best using F1-score instead of only accuracy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Improved usability by allowing prediction with minimal inputs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Provided explainable results (reason + suggestion) instead of just prediction output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Achieved more balanced performance (precision + recall) using Gradient Boosting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Challenges &amp; Solutions</a:t>
            </a:r>
            <a:endParaRPr/>
          </a:p>
        </p:txBody>
      </p:sp>
      <p:sp>
        <p:nvSpPr>
          <p:cNvPr id="182" name="Google Shape;182;p14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700"/>
              <a:t>Problems faced</a:t>
            </a:r>
            <a:endParaRPr b="1" sz="1700"/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Class imbalance (fewer dropout cases)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Model performance variation between algorithms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Using all features for real-time input was impractical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Model output not easily understandable for users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IN" sz="1700"/>
              <a:t>How they were solved</a:t>
            </a:r>
            <a:endParaRPr b="1" sz="1700"/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Used SMOTE to handle class imbalance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Compared multiple models and selected best using F1-score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Reduced input to key features and filled others with mean values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Added risk levels, reasons, and suggestions to make output understandable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Future Work</a:t>
            </a:r>
            <a:endParaRPr/>
          </a:p>
        </p:txBody>
      </p:sp>
      <p:sp>
        <p:nvSpPr>
          <p:cNvPr id="188" name="Google Shape;188;p15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700"/>
              <a:t>Possible improvements</a:t>
            </a:r>
            <a:endParaRPr b="1" sz="1700"/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Improve accuracy by using more advanced models or better tuning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Include more relevant features (attendance, internal marks, behavior)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Add feature selection techniques to remove less important variables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Perform cross-validation for more reliable evaluation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Enhance model performance with better imbalance handling techniques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IN" sz="1700"/>
              <a:t>Extension ideas</a:t>
            </a:r>
            <a:endParaRPr b="1" sz="1700"/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Develop a web/mobile application for real-time student use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Integrate with college database systems for automatic data input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Add visual dashboards for tracking student risk trends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Extend system to predict academic performance or placement chances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Implement early warning system for institutions to take preventive action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Phase-3 Deliverables</a:t>
            </a:r>
            <a:endParaRPr/>
          </a:p>
        </p:txBody>
      </p:sp>
      <p:sp>
        <p:nvSpPr>
          <p:cNvPr id="194" name="Google Shape;194;p17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/>
              <a:t>Deliverable 1:  </a:t>
            </a:r>
            <a:r>
              <a:rPr lang="en-IN"/>
              <a:t>Final PPT</a:t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IN"/>
              <a:t>Deliverable 2: </a:t>
            </a:r>
            <a:r>
              <a:rPr lang="en-IN"/>
              <a:t>Google Colab Notebook </a:t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/>
              <a:t>Deliverable 3: </a:t>
            </a:r>
            <a:r>
              <a:rPr lang="en-IN"/>
              <a:t>Dataset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2400"/>
              <a:buChar char="•"/>
            </a:pPr>
            <a:r>
              <a:rPr b="1" lang="en-IN"/>
              <a:t>Deliverable 4: </a:t>
            </a:r>
            <a:r>
              <a:rPr lang="en-IN"/>
              <a:t>Code Repository (GitHub)</a:t>
            </a:r>
            <a:endParaRPr/>
          </a:p>
          <a:p>
            <a:pPr indent="0" lvl="0" marL="3429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IN"/>
              <a:t>https://github.com/angelxavier905/AIML_ML-Lab/tree/main/ML_Mini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/>
              <a:t>Conclusion</a:t>
            </a:r>
            <a:endParaRPr/>
          </a:p>
        </p:txBody>
      </p:sp>
      <p:sp>
        <p:nvSpPr>
          <p:cNvPr id="200" name="Google Shape;200;p18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700"/>
              <a:t>Summary of work</a:t>
            </a:r>
            <a:endParaRPr b="1" sz="1700"/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Built a student dropout prediction system using machine learning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Preprocessed data, handled imbalance using SMOTE, and trained multiple models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Compared Logistic Regression, Random Forest, and Gradient Boosting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Selected Gradient Boosting as the best model based on F1-score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Developed a Smart Risk Checker where users can input details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System provides prediction, risk level, reason, and suggestions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IN" sz="1700"/>
              <a:t>Key learnings</a:t>
            </a:r>
            <a:endParaRPr b="1" sz="1700"/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Importance of data preprocessing and class imbalance handling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Understanding of model comparison using metrics like Precision, Recall, F1-score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Practical use of multiple ML algorithms and model tuning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Learned how to build an interpretable and user-friendly ML system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rtl="0" algn="l">
              <a:spcBef>
                <a:spcPts val="480"/>
              </a:spcBef>
              <a:spcAft>
                <a:spcPts val="0"/>
              </a:spcAft>
              <a:buSzPts val="1900"/>
              <a:buChar char="•"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Gained experience in converting a model into a real-world application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IN" sz="3200"/>
              <a:t>References</a:t>
            </a:r>
            <a:endParaRPr/>
          </a:p>
        </p:txBody>
      </p:sp>
      <p:sp>
        <p:nvSpPr>
          <p:cNvPr id="206" name="Google Shape;206;p19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IN"/>
              <a:t>• Kaggle Dataset: Predict Students Dropout and Academic Success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IN"/>
              <a:t>• Villar &amp; Andrade (2024) – Discover AI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IN"/>
              <a:t>• Marcolino et al. (2025) – Scientific Reports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IN"/>
              <a:t>• Cho et al. (2023) – Applied Sciences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IN"/>
              <a:t>• Kim et al. (2023) – Applied Sciences  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