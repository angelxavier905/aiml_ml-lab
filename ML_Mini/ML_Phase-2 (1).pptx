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/BX95P8zJ4ztHbFkCtTeITbjX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642DBD-F609-467B-B754-098895C92EBD}">
  <a:tblStyle styleId="{6F642DBD-F609-467B-B754-098895C92E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ecc81ef7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ecc81ef7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ecc81ef7e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ecc81ef7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ecc81ef7e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ecc81ef7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ed1e52bcf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ed1e52bc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ed1e52bcf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ed1e52bc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idx="1" type="body"/>
          </p:nvPr>
        </p:nvSpPr>
        <p:spPr>
          <a:xfrm>
            <a:off x="0" y="0"/>
            <a:ext cx="9144000" cy="6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73"/>
              <a:t>Project Title: Dropout Risk Detection</a:t>
            </a:r>
            <a:endParaRPr b="1" sz="3673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Student Name:</a:t>
            </a:r>
            <a:endParaRPr/>
          </a:p>
          <a:p>
            <a:pPr indent="114300" lvl="0" marL="8001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IN"/>
              <a:t>Angel Xavier-01</a:t>
            </a:r>
            <a:endParaRPr/>
          </a:p>
          <a:p>
            <a:pPr indent="114300" lvl="0" marL="8001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IN"/>
              <a:t>Taanshu Babariya-03</a:t>
            </a:r>
            <a:endParaRPr/>
          </a:p>
          <a:p>
            <a:pPr indent="114300" lvl="0" marL="8001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IN"/>
              <a:t>Mariam Badure-04</a:t>
            </a:r>
            <a:endParaRPr/>
          </a:p>
          <a:p>
            <a:pPr indent="114300" lvl="0" marL="8001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IN"/>
              <a:t>Jaden Borges-08</a:t>
            </a:r>
            <a:endParaRPr/>
          </a:p>
          <a:p>
            <a:pPr indent="114300" lvl="0" marL="8001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 Batch: A1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Course: ML Mini Project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Guide Name: Dr. Joanne Gomes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Institute Name: St. Francis Institute of Technology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457200" y="136526"/>
            <a:ext cx="82296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Problem Recap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457200" y="1167788"/>
            <a:ext cx="8229600" cy="5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Phase 1 identified that many students drop out due to low academic performance and lack of engagement.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However, the baseline model had limitations in accuracy due to class imbalance and limited model complexity.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Institutes require a more reliable and accurate system to identify at-risk students early.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In Phase 2, the focus is on improving prediction performance using advanced machine learning models and imbalance handling techniques.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Goal: build a more accurate and robust prediction model to support early intervention.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457200" y="-209949"/>
            <a:ext cx="82296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Dataset (Final)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174950" y="597700"/>
            <a:ext cx="8782500" cy="61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100">
                <a:latin typeface="Arial"/>
                <a:ea typeface="Arial"/>
                <a:cs typeface="Arial"/>
                <a:sym typeface="Arial"/>
              </a:rPr>
              <a:t>Dataset Source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IN" sz="1500">
                <a:latin typeface="Arial"/>
                <a:ea typeface="Arial"/>
                <a:cs typeface="Arial"/>
                <a:sym typeface="Arial"/>
              </a:rPr>
              <a:t>Predict Students' Dropout and Academic Success</a:t>
            </a:r>
            <a:endParaRPr i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Kaggle / UCI Machine Learning Repository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100">
                <a:latin typeface="Arial"/>
                <a:ea typeface="Arial"/>
                <a:cs typeface="Arial"/>
                <a:sym typeface="Arial"/>
              </a:rPr>
              <a:t>Number of Samples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Rows (instances):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4,424 students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Features: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36 input features + 1 target column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100">
                <a:latin typeface="Arial"/>
                <a:ea typeface="Arial"/>
                <a:cs typeface="Arial"/>
                <a:sym typeface="Arial"/>
              </a:rPr>
              <a:t>Feature Description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500">
                <a:latin typeface="Arial"/>
                <a:ea typeface="Arial"/>
                <a:cs typeface="Arial"/>
                <a:sym typeface="Arial"/>
              </a:rPr>
              <a:t>The dataset includes </a:t>
            </a: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student demographic, academic, financial, family, and economic details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Demographic: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gender, age, nationality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Academic: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course, previous grades, semester performance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Financial: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fees status, scholarship, debtor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Family: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parents’ education &amp; occupation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Economic: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unemployment, inflation, GDP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1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3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Data Pre-processing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100">
                <a:latin typeface="Arial"/>
                <a:ea typeface="Arial"/>
                <a:cs typeface="Arial"/>
                <a:sym typeface="Arial"/>
              </a:rPr>
              <a:t>Handling Missing Values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IN" sz="1700">
                <a:latin typeface="Arial"/>
                <a:ea typeface="Arial"/>
                <a:cs typeface="Arial"/>
                <a:sym typeface="Arial"/>
              </a:rPr>
              <a:t>No missing values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IN" sz="1700">
                <a:latin typeface="Arial"/>
                <a:ea typeface="Arial"/>
                <a:cs typeface="Arial"/>
                <a:sym typeface="Arial"/>
              </a:rPr>
              <a:t>Dataset is already cleaned and ready to use 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100">
                <a:latin typeface="Arial"/>
                <a:ea typeface="Arial"/>
                <a:cs typeface="Arial"/>
                <a:sym typeface="Arial"/>
              </a:rPr>
              <a:t>Encoding Categorical Variables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IN" sz="1700">
                <a:latin typeface="Arial"/>
                <a:ea typeface="Arial"/>
                <a:cs typeface="Arial"/>
                <a:sym typeface="Arial"/>
              </a:rPr>
              <a:t>No additional encoding required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IN" sz="1700">
                <a:latin typeface="Arial"/>
                <a:ea typeface="Arial"/>
                <a:cs typeface="Arial"/>
                <a:sym typeface="Arial"/>
              </a:rPr>
              <a:t>All categorical fields are already label encoded as numeric values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IN" sz="1700">
                <a:latin typeface="Arial"/>
                <a:ea typeface="Arial"/>
                <a:cs typeface="Arial"/>
                <a:sym typeface="Arial"/>
              </a:rPr>
              <a:t>Features can be directly used for ML models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100">
                <a:latin typeface="Arial"/>
                <a:ea typeface="Arial"/>
                <a:cs typeface="Arial"/>
                <a:sym typeface="Arial"/>
              </a:rPr>
              <a:t>Normalization / Scaling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IN" sz="1700">
                <a:latin typeface="Arial"/>
                <a:ea typeface="Arial"/>
                <a:cs typeface="Arial"/>
                <a:sym typeface="Arial"/>
              </a:rPr>
              <a:t>Use StandardScaler 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IN" sz="1700">
                <a:latin typeface="Arial"/>
                <a:ea typeface="Arial"/>
                <a:cs typeface="Arial"/>
                <a:sym typeface="Arial"/>
              </a:rPr>
              <a:t>Important for Logistic Regression, SVM, DNN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IN" sz="1700">
                <a:latin typeface="Arial"/>
                <a:ea typeface="Arial"/>
                <a:cs typeface="Arial"/>
                <a:sym typeface="Arial"/>
              </a:rPr>
              <a:t>Less important for tree-based models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8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Feature Engineering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900">
                <a:latin typeface="Arial"/>
                <a:ea typeface="Arial"/>
                <a:cs typeface="Arial"/>
                <a:sym typeface="Arial"/>
              </a:rPr>
              <a:t>Selected Features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Personal: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age, gender, marital status, nationality, international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IN" sz="1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Academic background: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previous qualification, application mode/order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Semester performance: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enrolled, approved units, grades, evaluations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IN" sz="1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Financial/social: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fees status, debtor, scholarship, course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IN" sz="1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Economic/family: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unemployment, inflation, GDP, parents’ education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900">
                <a:latin typeface="Arial"/>
                <a:ea typeface="Arial"/>
                <a:cs typeface="Arial"/>
                <a:sym typeface="Arial"/>
              </a:rPr>
              <a:t>Justification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Semester approved units + grades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→ strongest academic predictors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Tuition fees, debtor, scholarship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→ financial stress indicators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Age and family background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→ personal support &amp; responsibility factors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IN" sz="1500">
                <a:latin typeface="Arial"/>
                <a:ea typeface="Arial"/>
                <a:cs typeface="Arial"/>
                <a:sym typeface="Arial"/>
              </a:rPr>
              <a:t>Economic indicators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→ external stress on continuation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900">
                <a:latin typeface="Arial"/>
                <a:ea typeface="Arial"/>
                <a:cs typeface="Arial"/>
                <a:sym typeface="Arial"/>
              </a:rPr>
              <a:t>Domain Knowledge Used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IN" sz="1500">
                <a:latin typeface="Arial"/>
                <a:ea typeface="Arial"/>
                <a:cs typeface="Arial"/>
                <a:sym typeface="Arial"/>
              </a:rPr>
              <a:t>Low grades → poor academic progress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IN" sz="1500">
                <a:latin typeface="Arial"/>
                <a:ea typeface="Arial"/>
                <a:cs typeface="Arial"/>
                <a:sym typeface="Arial"/>
              </a:rPr>
              <a:t>Fee delays → financial hardship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IN" sz="1500">
                <a:latin typeface="Arial"/>
                <a:ea typeface="Arial"/>
                <a:cs typeface="Arial"/>
                <a:sym typeface="Arial"/>
              </a:rPr>
              <a:t>Scholarship → higher motivation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IN" sz="1500">
                <a:latin typeface="Arial"/>
                <a:ea typeface="Arial"/>
                <a:cs typeface="Arial"/>
                <a:sym typeface="Arial"/>
              </a:rPr>
              <a:t>Older/married students → more outside responsibilities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600"/>
          </a:p>
          <a:p>
            <a:pPr indent="-1905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Models Implemented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IN" sz="2800">
                <a:latin typeface="Arial"/>
                <a:ea typeface="Arial"/>
                <a:cs typeface="Arial"/>
                <a:sym typeface="Arial"/>
              </a:rPr>
              <a:t>Algorithms Shortlisted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Random Forest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Gradient Boosting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2200">
                <a:latin typeface="Arial"/>
                <a:ea typeface="Arial"/>
                <a:cs typeface="Arial"/>
                <a:sym typeface="Arial"/>
              </a:rPr>
              <a:t>Reason for Choosing Each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Logistic Regression: simple, fast, and strong baseline classifier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Random Forest: handles non-linearity, reduces overfitting, gives feature importance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Gradient Boosting: high accuracy by learning from previous model errors</a:t>
            </a:r>
            <a:endParaRPr sz="29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ecc81ef7e_0_1"/>
          <p:cNvSpPr txBox="1"/>
          <p:nvPr>
            <p:ph type="title"/>
          </p:nvPr>
        </p:nvSpPr>
        <p:spPr>
          <a:xfrm>
            <a:off x="457200" y="136526"/>
            <a:ext cx="8229600" cy="92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IN" sz="2400"/>
              <a:t>Brief description of each (diagram)</a:t>
            </a:r>
            <a:endParaRPr/>
          </a:p>
        </p:txBody>
      </p:sp>
      <p:sp>
        <p:nvSpPr>
          <p:cNvPr id="120" name="Google Shape;120;g3decc81ef7e_0_1"/>
          <p:cNvSpPr txBox="1"/>
          <p:nvPr>
            <p:ph idx="1" type="body"/>
          </p:nvPr>
        </p:nvSpPr>
        <p:spPr>
          <a:xfrm>
            <a:off x="457200" y="1167788"/>
            <a:ext cx="8229600" cy="51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IN"/>
              <a:t>Logistic Regression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g3decc81ef7e_0_1" title="Gemini_Generated_Image_fwbp7cfwbp7cfwb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600" y="1844600"/>
            <a:ext cx="8602803" cy="469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ecc81ef7e_0_7"/>
          <p:cNvSpPr txBox="1"/>
          <p:nvPr>
            <p:ph idx="1" type="body"/>
          </p:nvPr>
        </p:nvSpPr>
        <p:spPr>
          <a:xfrm>
            <a:off x="457200" y="720513"/>
            <a:ext cx="8229600" cy="51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IN"/>
              <a:t>Random Forest</a:t>
            </a:r>
            <a:endParaRPr/>
          </a:p>
        </p:txBody>
      </p:sp>
      <p:pic>
        <p:nvPicPr>
          <p:cNvPr id="127" name="Google Shape;127;g3decc81ef7e_0_7" title="Gemini_Generated_Image_f43rrqf43rrqf43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925" y="1497600"/>
            <a:ext cx="8468148" cy="4618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ecc81ef7e_0_13"/>
          <p:cNvSpPr txBox="1"/>
          <p:nvPr>
            <p:ph idx="1" type="body"/>
          </p:nvPr>
        </p:nvSpPr>
        <p:spPr>
          <a:xfrm>
            <a:off x="290725" y="467088"/>
            <a:ext cx="8229600" cy="51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IN"/>
              <a:t> Gradient Boosting </a:t>
            </a:r>
            <a:endParaRPr/>
          </a:p>
        </p:txBody>
      </p:sp>
      <p:pic>
        <p:nvPicPr>
          <p:cNvPr id="133" name="Google Shape;133;g3decc81ef7e_0_13" title="Gemini_Generated_Image_wfyf0dwfyf0dwfy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725" y="1352625"/>
            <a:ext cx="8562551" cy="46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Hyperparameter Tuning</a:t>
            </a:r>
            <a:endParaRPr/>
          </a:p>
        </p:txBody>
      </p:sp>
      <p:sp>
        <p:nvSpPr>
          <p:cNvPr id="139" name="Google Shape;139;p7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3800">
                <a:latin typeface="Arial"/>
                <a:ea typeface="Arial"/>
                <a:cs typeface="Arial"/>
                <a:sym typeface="Arial"/>
              </a:rPr>
              <a:t>Parameters Tuned</a:t>
            </a:r>
            <a:endParaRPr sz="3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50">
                <a:latin typeface="Arial"/>
                <a:ea typeface="Arial"/>
                <a:cs typeface="Arial"/>
                <a:sym typeface="Arial"/>
              </a:rPr>
              <a:t>For Random Forest, the following parameters were tuned: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50"/>
              <a:buChar char="●"/>
            </a:pPr>
            <a:r>
              <a:rPr lang="en-IN" sz="2050">
                <a:latin typeface="Arial"/>
                <a:ea typeface="Arial"/>
                <a:cs typeface="Arial"/>
                <a:sym typeface="Arial"/>
              </a:rPr>
              <a:t>n_estimators → [100, 200]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50"/>
              <a:buChar char="●"/>
            </a:pPr>
            <a:r>
              <a:rPr lang="en-IN" sz="2050">
                <a:latin typeface="Arial"/>
                <a:ea typeface="Arial"/>
                <a:cs typeface="Arial"/>
                <a:sym typeface="Arial"/>
              </a:rPr>
              <a:t>max_depth → [None, 10, 20]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2050">
                <a:latin typeface="Arial"/>
                <a:ea typeface="Arial"/>
                <a:cs typeface="Arial"/>
                <a:sym typeface="Arial"/>
              </a:rPr>
              <a:t>For Gradient Boosting, default: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205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IN" sz="2050">
                <a:latin typeface="Arial"/>
                <a:ea typeface="Arial"/>
                <a:cs typeface="Arial"/>
                <a:sym typeface="Arial"/>
              </a:rPr>
              <a:t>_estimators = 100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50">
                <a:latin typeface="Arial"/>
                <a:ea typeface="Arial"/>
                <a:cs typeface="Arial"/>
                <a:sym typeface="Arial"/>
              </a:rPr>
              <a:t>For Logistic Regression: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50"/>
              <a:buChar char="●"/>
            </a:pPr>
            <a:r>
              <a:rPr lang="en-IN" sz="2050">
                <a:latin typeface="Arial"/>
                <a:ea typeface="Arial"/>
                <a:cs typeface="Arial"/>
                <a:sym typeface="Arial"/>
              </a:rPr>
              <a:t>max_iter = 1000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ed1e52bcf_0_52"/>
          <p:cNvSpPr txBox="1"/>
          <p:nvPr>
            <p:ph idx="1" type="body"/>
          </p:nvPr>
        </p:nvSpPr>
        <p:spPr>
          <a:xfrm>
            <a:off x="457200" y="878538"/>
            <a:ext cx="8229600" cy="51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900">
                <a:latin typeface="Arial"/>
                <a:ea typeface="Arial"/>
                <a:cs typeface="Arial"/>
                <a:sym typeface="Arial"/>
              </a:rPr>
              <a:t>Method Used</a:t>
            </a:r>
            <a:endParaRPr sz="29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GridSearchCV was used for Random Forest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Manual/default tuning was used for Logistic Regression and Gradient Boosting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3-fold cross-validation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F1-score used as scoring metric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2900">
                <a:latin typeface="Arial"/>
                <a:ea typeface="Arial"/>
                <a:cs typeface="Arial"/>
                <a:sym typeface="Arial"/>
              </a:rPr>
              <a:t>Effect on Performance</a:t>
            </a:r>
            <a:endParaRPr sz="29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Random Forest performance improved after tuning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Better balance between precision and recall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F1-score improved to 81.02%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Gradient Boosting still achieved the best F1-score (82.14%)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Helped in selecting the best final model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Evaluation Metrics and Model Comparison</a:t>
            </a:r>
            <a:endParaRPr/>
          </a:p>
        </p:txBody>
      </p:sp>
      <p:graphicFrame>
        <p:nvGraphicFramePr>
          <p:cNvPr id="150" name="Google Shape;150;p8"/>
          <p:cNvGraphicFramePr/>
          <p:nvPr/>
        </p:nvGraphicFramePr>
        <p:xfrm>
          <a:off x="457200" y="116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{6F642DBD-F609-467B-B754-098895C92EBD}</a:tableStyleId>
              </a:tblPr>
              <a:tblGrid>
                <a:gridCol w="1691000"/>
                <a:gridCol w="1691000"/>
                <a:gridCol w="1691000"/>
                <a:gridCol w="1691000"/>
                <a:gridCol w="1691000"/>
              </a:tblGrid>
              <a:tr h="103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F1 Score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59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Logistic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87.46%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78.36%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84.15%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81.15%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3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Random 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88.25%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84.09%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78.17%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81.02%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59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Gradient Boosting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88.70%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83.33%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80.99%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82.14%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Best Model Selection</a:t>
            </a:r>
            <a:endParaRPr/>
          </a:p>
        </p:txBody>
      </p:sp>
      <p:sp>
        <p:nvSpPr>
          <p:cNvPr id="156" name="Google Shape;156;p9"/>
          <p:cNvSpPr txBox="1"/>
          <p:nvPr>
            <p:ph idx="1" type="body"/>
          </p:nvPr>
        </p:nvSpPr>
        <p:spPr>
          <a:xfrm>
            <a:off x="618175" y="1216088"/>
            <a:ext cx="8229600" cy="5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/>
              <a:t>Selected model:</a:t>
            </a:r>
            <a:r>
              <a:rPr lang="en-IN" sz="2800"/>
              <a:t> </a:t>
            </a:r>
            <a:r>
              <a:rPr lang="en-IN" sz="2800"/>
              <a:t>Gradient Boosting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IN" sz="2800"/>
              <a:t>Reason for selection:</a:t>
            </a:r>
            <a:endParaRPr b="1" sz="2800"/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3000"/>
              <a:buChar char="•"/>
            </a:pPr>
            <a:r>
              <a:rPr lang="en-IN" sz="1700">
                <a:latin typeface="Arial"/>
                <a:ea typeface="Arial"/>
                <a:cs typeface="Arial"/>
                <a:sym typeface="Arial"/>
              </a:rPr>
              <a:t>It achieved the highest accuracy (88.70%)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3000"/>
              <a:buChar char="•"/>
            </a:pPr>
            <a:r>
              <a:rPr lang="en-IN" sz="1700">
                <a:latin typeface="Arial"/>
                <a:ea typeface="Arial"/>
                <a:cs typeface="Arial"/>
                <a:sym typeface="Arial"/>
              </a:rPr>
              <a:t>It has the best F1-score (82.14%), which means the best balance between precision and recall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3000"/>
              <a:buChar char="•"/>
            </a:pPr>
            <a:r>
              <a:rPr lang="en-IN" sz="1700">
                <a:latin typeface="Arial"/>
                <a:ea typeface="Arial"/>
                <a:cs typeface="Arial"/>
                <a:sym typeface="Arial"/>
              </a:rPr>
              <a:t>Precision and recall are both strong, making it reliable for identifying at-risk students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3000"/>
              <a:buChar char="•"/>
            </a:pPr>
            <a:r>
              <a:rPr lang="en-IN" sz="1700">
                <a:latin typeface="Arial"/>
                <a:ea typeface="Arial"/>
                <a:cs typeface="Arial"/>
                <a:sym typeface="Arial"/>
              </a:rPr>
              <a:t>Performs better than Logistic Regression and Random Forest overall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3000"/>
              <a:buChar char="•"/>
            </a:pPr>
            <a:r>
              <a:rPr lang="en-IN" sz="1700">
                <a:latin typeface="Arial"/>
                <a:ea typeface="Arial"/>
                <a:cs typeface="Arial"/>
                <a:sym typeface="Arial"/>
              </a:rPr>
              <a:t>Works well on complex patterns and feature interactions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3000"/>
              <a:buChar char="•"/>
            </a:pPr>
            <a:r>
              <a:rPr lang="en-IN" sz="1700">
                <a:latin typeface="Arial"/>
                <a:ea typeface="Arial"/>
                <a:cs typeface="Arial"/>
                <a:sym typeface="Arial"/>
              </a:rPr>
              <a:t>Suitable for student dropout prediction, where balanced classification is important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>
            <p:ph type="title"/>
          </p:nvPr>
        </p:nvSpPr>
        <p:spPr>
          <a:xfrm>
            <a:off x="457200" y="136526"/>
            <a:ext cx="82296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Error Analysis</a:t>
            </a:r>
            <a:endParaRPr/>
          </a:p>
        </p:txBody>
      </p:sp>
      <p:sp>
        <p:nvSpPr>
          <p:cNvPr id="162" name="Google Shape;162;p10"/>
          <p:cNvSpPr txBox="1"/>
          <p:nvPr>
            <p:ph idx="1" type="body"/>
          </p:nvPr>
        </p:nvSpPr>
        <p:spPr>
          <a:xfrm>
            <a:off x="392800" y="878538"/>
            <a:ext cx="8229600" cy="5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-IN" sz="2520"/>
              <a:t>Where model fails:</a:t>
            </a:r>
            <a:endParaRPr sz="2520"/>
          </a:p>
          <a:p>
            <a:pPr indent="-368618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5"/>
              <a:buChar char="•"/>
            </a:pPr>
            <a:r>
              <a:rPr lang="en-IN" sz="1603">
                <a:latin typeface="Arial"/>
                <a:ea typeface="Arial"/>
                <a:cs typeface="Arial"/>
                <a:sym typeface="Arial"/>
              </a:rPr>
              <a:t>Borderline students → students whose behavior is between dropout and non-dropout</a:t>
            </a:r>
            <a:endParaRPr sz="1603">
              <a:latin typeface="Arial"/>
              <a:ea typeface="Arial"/>
              <a:cs typeface="Arial"/>
              <a:sym typeface="Arial"/>
            </a:endParaRPr>
          </a:p>
          <a:p>
            <a:pPr indent="-368618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5"/>
              <a:buChar char="•"/>
            </a:pPr>
            <a:r>
              <a:rPr lang="en-IN" sz="1603">
                <a:latin typeface="Arial"/>
                <a:ea typeface="Arial"/>
                <a:cs typeface="Arial"/>
                <a:sym typeface="Arial"/>
              </a:rPr>
              <a:t>Sudden life events → personal, financial, or health issues not present in the dataset</a:t>
            </a:r>
            <a:endParaRPr sz="1603">
              <a:latin typeface="Arial"/>
              <a:ea typeface="Arial"/>
              <a:cs typeface="Arial"/>
              <a:sym typeface="Arial"/>
            </a:endParaRPr>
          </a:p>
          <a:p>
            <a:pPr indent="-368618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5"/>
              <a:buChar char="•"/>
            </a:pPr>
            <a:r>
              <a:rPr lang="en-IN" sz="1603">
                <a:latin typeface="Arial"/>
                <a:ea typeface="Arial"/>
                <a:cs typeface="Arial"/>
                <a:sym typeface="Arial"/>
              </a:rPr>
              <a:t>Incomplete data → missing attendance, grades, or assignment records</a:t>
            </a:r>
            <a:endParaRPr sz="1603">
              <a:latin typeface="Arial"/>
              <a:ea typeface="Arial"/>
              <a:cs typeface="Arial"/>
              <a:sym typeface="Arial"/>
            </a:endParaRPr>
          </a:p>
          <a:p>
            <a:pPr indent="-368618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5"/>
              <a:buChar char="•"/>
            </a:pPr>
            <a:r>
              <a:rPr lang="en-IN" sz="1603">
                <a:latin typeface="Arial"/>
                <a:ea typeface="Arial"/>
                <a:cs typeface="Arial"/>
                <a:sym typeface="Arial"/>
              </a:rPr>
              <a:t>Noisy data → incorrect or inconsistent student information</a:t>
            </a:r>
            <a:endParaRPr sz="1603">
              <a:latin typeface="Arial"/>
              <a:ea typeface="Arial"/>
              <a:cs typeface="Arial"/>
              <a:sym typeface="Arial"/>
            </a:endParaRPr>
          </a:p>
          <a:p>
            <a:pPr indent="-368618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5"/>
              <a:buChar char="•"/>
            </a:pPr>
            <a:r>
              <a:rPr lang="en-IN" sz="1603">
                <a:latin typeface="Arial"/>
                <a:ea typeface="Arial"/>
                <a:cs typeface="Arial"/>
                <a:sym typeface="Arial"/>
              </a:rPr>
              <a:t>Unseen patterns → new types of student behavior not learned during training</a:t>
            </a:r>
            <a:endParaRPr sz="1603">
              <a:latin typeface="Arial"/>
              <a:ea typeface="Arial"/>
              <a:cs typeface="Arial"/>
              <a:sym typeface="Arial"/>
            </a:endParaRPr>
          </a:p>
          <a:p>
            <a:pPr indent="-368618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5"/>
              <a:buChar char="•"/>
            </a:pPr>
            <a:r>
              <a:rPr lang="en-IN" sz="1603">
                <a:latin typeface="Arial"/>
                <a:ea typeface="Arial"/>
                <a:cs typeface="Arial"/>
                <a:sym typeface="Arial"/>
              </a:rPr>
              <a:t>Class imbalance issues → minority dropout cases may still be harder to predict</a:t>
            </a:r>
            <a:endParaRPr sz="1603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520"/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018"/>
              <a:buNone/>
            </a:pPr>
            <a:r>
              <a:rPr lang="en-IN" sz="2520"/>
              <a:t>Example misclassifications</a:t>
            </a:r>
            <a:endParaRPr sz="25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IN" sz="1603">
                <a:latin typeface="Arial"/>
                <a:ea typeface="Arial"/>
                <a:cs typeface="Arial"/>
                <a:sym typeface="Arial"/>
              </a:rPr>
              <a:t>A student is predicted as “Safe”, but actually drops out.</a:t>
            </a:r>
            <a:endParaRPr sz="160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IN" sz="1603">
                <a:latin typeface="Arial"/>
                <a:ea typeface="Arial"/>
                <a:cs typeface="Arial"/>
                <a:sym typeface="Arial"/>
              </a:rPr>
              <a:t>Example:</a:t>
            </a:r>
            <a:endParaRPr sz="1603">
              <a:latin typeface="Arial"/>
              <a:ea typeface="Arial"/>
              <a:cs typeface="Arial"/>
              <a:sym typeface="Arial"/>
            </a:endParaRPr>
          </a:p>
          <a:p>
            <a:pPr indent="-330359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3"/>
              <a:buChar char="●"/>
            </a:pPr>
            <a:r>
              <a:rPr lang="en-IN" sz="1603">
                <a:latin typeface="Arial"/>
                <a:ea typeface="Arial"/>
                <a:cs typeface="Arial"/>
                <a:sym typeface="Arial"/>
              </a:rPr>
              <a:t>Good attendance and grades initially</a:t>
            </a:r>
            <a:endParaRPr sz="1603">
              <a:latin typeface="Arial"/>
              <a:ea typeface="Arial"/>
              <a:cs typeface="Arial"/>
              <a:sym typeface="Arial"/>
            </a:endParaRPr>
          </a:p>
          <a:p>
            <a:pPr indent="-33035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3"/>
              <a:buChar char="●"/>
            </a:pPr>
            <a:r>
              <a:rPr lang="en-IN" sz="1603">
                <a:latin typeface="Arial"/>
                <a:ea typeface="Arial"/>
                <a:cs typeface="Arial"/>
                <a:sym typeface="Arial"/>
              </a:rPr>
              <a:t>Suddenly faces financial or personal issues</a:t>
            </a:r>
            <a:endParaRPr sz="1603">
              <a:latin typeface="Arial"/>
              <a:ea typeface="Arial"/>
              <a:cs typeface="Arial"/>
              <a:sym typeface="Arial"/>
            </a:endParaRPr>
          </a:p>
          <a:p>
            <a:pPr indent="-33035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3"/>
              <a:buChar char="●"/>
            </a:pPr>
            <a:r>
              <a:rPr lang="en-IN" sz="1603">
                <a:latin typeface="Arial"/>
                <a:ea typeface="Arial"/>
                <a:cs typeface="Arial"/>
                <a:sym typeface="Arial"/>
              </a:rPr>
              <a:t>Leaves college unexpectedly</a:t>
            </a:r>
            <a:endParaRPr sz="160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IN" sz="1603">
                <a:latin typeface="Arial"/>
                <a:ea typeface="Arial"/>
                <a:cs typeface="Arial"/>
                <a:sym typeface="Arial"/>
              </a:rPr>
              <a:t>Model fails because these hidden factors were not in training data.</a:t>
            </a:r>
            <a:endParaRPr sz="1603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t/>
            </a:r>
            <a:endParaRPr sz="25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Improvement over Phase-1</a:t>
            </a:r>
            <a:endParaRPr/>
          </a:p>
        </p:txBody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Previous vs current performance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169" name="Google Shape;169;p11"/>
          <p:cNvGraphicFramePr/>
          <p:nvPr/>
        </p:nvGraphicFramePr>
        <p:xfrm>
          <a:off x="807600" y="20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{6F642DBD-F609-467B-B754-098895C92EBD}</a:tableStyleId>
              </a:tblPr>
              <a:tblGrid>
                <a:gridCol w="1225275"/>
                <a:gridCol w="1225275"/>
                <a:gridCol w="1225275"/>
                <a:gridCol w="1225275"/>
                <a:gridCol w="1225275"/>
                <a:gridCol w="1225275"/>
              </a:tblGrid>
              <a:tr h="41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Phase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Model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Accuracy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Precision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Recall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F1 Score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108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Phase 1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Logistic Regression (Baseline M</a:t>
                      </a:r>
                      <a:r>
                        <a:rPr lang="en-IN" sz="1700"/>
                        <a:t>o</a:t>
                      </a:r>
                      <a:r>
                        <a:rPr lang="en-IN" sz="1600"/>
                        <a:t>del)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88.02%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87.39%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73.24%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79.69%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86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Phase 2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Logistic Regression + SMOTE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87.46%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78.36%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84.15%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81.15%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86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Phase 2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Random Forest (Tuned)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88.25%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84.09%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78.17%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81.02%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63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Phase 2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Gradient Boosting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88.70%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83.33%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80.99%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82.14%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ed1e52bcf_0_42"/>
          <p:cNvSpPr txBox="1"/>
          <p:nvPr>
            <p:ph idx="1" type="body"/>
          </p:nvPr>
        </p:nvSpPr>
        <p:spPr>
          <a:xfrm>
            <a:off x="457200" y="458852"/>
            <a:ext cx="8229600" cy="59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IN" sz="3108"/>
              <a:t>What improved results</a:t>
            </a:r>
            <a:endParaRPr sz="3108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3108"/>
          </a:p>
          <a:p>
            <a:pPr indent="-34655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IN" sz="2008">
                <a:latin typeface="Arial"/>
                <a:ea typeface="Arial"/>
                <a:cs typeface="Arial"/>
                <a:sym typeface="Arial"/>
              </a:rPr>
              <a:t> Higher F1-score improved from 79.69% → 82.14%</a:t>
            </a:r>
            <a:endParaRPr sz="2008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8">
              <a:latin typeface="Arial"/>
              <a:ea typeface="Arial"/>
              <a:cs typeface="Arial"/>
              <a:sym typeface="Arial"/>
            </a:endParaRPr>
          </a:p>
          <a:p>
            <a:pPr indent="-34655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IN" sz="2008">
                <a:latin typeface="Arial"/>
                <a:ea typeface="Arial"/>
                <a:cs typeface="Arial"/>
                <a:sym typeface="Arial"/>
              </a:rPr>
              <a:t> Better recall improved from 73.24% → 84.15% (LR+SMOTE)</a:t>
            </a:r>
            <a:endParaRPr sz="2008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8">
              <a:latin typeface="Arial"/>
              <a:ea typeface="Arial"/>
              <a:cs typeface="Arial"/>
              <a:sym typeface="Arial"/>
            </a:endParaRPr>
          </a:p>
          <a:p>
            <a:pPr indent="-34655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IN" sz="2008">
                <a:latin typeface="Arial"/>
                <a:ea typeface="Arial"/>
                <a:cs typeface="Arial"/>
                <a:sym typeface="Arial"/>
              </a:rPr>
              <a:t> Better handling of class imbalance using SMOTE</a:t>
            </a:r>
            <a:endParaRPr sz="2008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8">
              <a:latin typeface="Arial"/>
              <a:ea typeface="Arial"/>
              <a:cs typeface="Arial"/>
              <a:sym typeface="Arial"/>
            </a:endParaRPr>
          </a:p>
          <a:p>
            <a:pPr indent="-34655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IN" sz="2008">
                <a:latin typeface="Arial"/>
                <a:ea typeface="Arial"/>
                <a:cs typeface="Arial"/>
                <a:sym typeface="Arial"/>
              </a:rPr>
              <a:t> Ensemble models improved overall generalization</a:t>
            </a:r>
            <a:endParaRPr sz="2008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8">
              <a:latin typeface="Arial"/>
              <a:ea typeface="Arial"/>
              <a:cs typeface="Arial"/>
              <a:sym typeface="Arial"/>
            </a:endParaRPr>
          </a:p>
          <a:p>
            <a:pPr indent="-34655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IN" sz="2008">
                <a:latin typeface="Arial"/>
                <a:ea typeface="Arial"/>
                <a:cs typeface="Arial"/>
                <a:sym typeface="Arial"/>
              </a:rPr>
              <a:t> Gradient Boosting gave the best balanced performance</a:t>
            </a:r>
            <a:endParaRPr sz="2008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8">
              <a:latin typeface="Arial"/>
              <a:ea typeface="Arial"/>
              <a:cs typeface="Arial"/>
              <a:sym typeface="Arial"/>
            </a:endParaRPr>
          </a:p>
          <a:p>
            <a:pPr indent="-34655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IN" sz="2008">
                <a:latin typeface="Arial"/>
                <a:ea typeface="Arial"/>
                <a:cs typeface="Arial"/>
                <a:sym typeface="Arial"/>
              </a:rPr>
              <a:t> Better identification of dropout-risk students</a:t>
            </a:r>
            <a:endParaRPr sz="2008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/>
          <p:nvPr>
            <p:ph type="title"/>
          </p:nvPr>
        </p:nvSpPr>
        <p:spPr>
          <a:xfrm>
            <a:off x="457200" y="136526"/>
            <a:ext cx="82296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System Integration</a:t>
            </a:r>
            <a:endParaRPr/>
          </a:p>
        </p:txBody>
      </p:sp>
      <p:sp>
        <p:nvSpPr>
          <p:cNvPr id="180" name="Google Shape;180;p12"/>
          <p:cNvSpPr txBox="1"/>
          <p:nvPr>
            <p:ph idx="1" type="body"/>
          </p:nvPr>
        </p:nvSpPr>
        <p:spPr>
          <a:xfrm>
            <a:off x="457200" y="1167788"/>
            <a:ext cx="8229600" cy="5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Input → Processing → Model → Output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81" name="Google Shape;181;p12"/>
          <p:cNvPicPr preferRelativeResize="0"/>
          <p:nvPr/>
        </p:nvPicPr>
        <p:blipFill rotWithShape="1">
          <a:blip r:embed="rId3">
            <a:alphaModFix/>
          </a:blip>
          <a:srcRect b="9785" l="2577" r="1966" t="7782"/>
          <a:stretch/>
        </p:blipFill>
        <p:spPr>
          <a:xfrm>
            <a:off x="207813" y="1915375"/>
            <a:ext cx="8728374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Demo / Results</a:t>
            </a:r>
            <a:endParaRPr/>
          </a:p>
        </p:txBody>
      </p:sp>
      <p:pic>
        <p:nvPicPr>
          <p:cNvPr id="187" name="Google Shape;1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450" y="1192551"/>
            <a:ext cx="5897900" cy="508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Challenges Faced</a:t>
            </a:r>
            <a:endParaRPr/>
          </a:p>
        </p:txBody>
      </p:sp>
      <p:sp>
        <p:nvSpPr>
          <p:cNvPr id="193" name="Google Shape;193;p14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Understanding dataset features and their meaning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Handling class imbalance in dropout data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Selecting the most relevant features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Choosing appropriate ML models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Improving recall for dropout prediction 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Future Work</a:t>
            </a:r>
            <a:endParaRPr/>
          </a:p>
        </p:txBody>
      </p:sp>
      <p:sp>
        <p:nvSpPr>
          <p:cNvPr id="199" name="Google Shape;199;p15"/>
          <p:cNvSpPr txBox="1"/>
          <p:nvPr>
            <p:ph idx="1" type="body"/>
          </p:nvPr>
        </p:nvSpPr>
        <p:spPr>
          <a:xfrm>
            <a:off x="773025" y="1259648"/>
            <a:ext cx="6504900" cy="46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300">
                <a:latin typeface="Arial"/>
                <a:ea typeface="Arial"/>
                <a:cs typeface="Arial"/>
                <a:sym typeface="Arial"/>
              </a:rPr>
              <a:t>Future Work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-IN" sz="1900">
                <a:latin typeface="Arial"/>
                <a:ea typeface="Arial"/>
                <a:cs typeface="Arial"/>
                <a:sym typeface="Arial"/>
              </a:rPr>
              <a:t>Use larger and multi-college datasets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IN" sz="1900">
                <a:latin typeface="Arial"/>
                <a:ea typeface="Arial"/>
                <a:cs typeface="Arial"/>
                <a:sym typeface="Arial"/>
              </a:rPr>
              <a:t>Add more features like financial and behavioral data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IN" sz="1900">
                <a:latin typeface="Arial"/>
                <a:ea typeface="Arial"/>
                <a:cs typeface="Arial"/>
                <a:sym typeface="Arial"/>
              </a:rPr>
              <a:t>Try advanced models like XGBoost / LightGBM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IN" sz="1900">
                <a:latin typeface="Arial"/>
                <a:ea typeface="Arial"/>
                <a:cs typeface="Arial"/>
                <a:sym typeface="Arial"/>
              </a:rPr>
              <a:t>Deploy as a real-time dashboard or web app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IN" sz="1900">
                <a:latin typeface="Arial"/>
                <a:ea typeface="Arial"/>
                <a:cs typeface="Arial"/>
                <a:sym typeface="Arial"/>
              </a:rPr>
              <a:t>Use Explainable AI for better trust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300">
                <a:latin typeface="Arial"/>
                <a:ea typeface="Arial"/>
                <a:cs typeface="Arial"/>
                <a:sym typeface="Arial"/>
              </a:rPr>
              <a:t>Possible Improvements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-IN" sz="1900">
                <a:latin typeface="Arial"/>
                <a:ea typeface="Arial"/>
                <a:cs typeface="Arial"/>
                <a:sym typeface="Arial"/>
              </a:rPr>
              <a:t>Better hyperparameter tuning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IN" sz="1900">
                <a:latin typeface="Arial"/>
                <a:ea typeface="Arial"/>
                <a:cs typeface="Arial"/>
                <a:sym typeface="Arial"/>
              </a:rPr>
              <a:t>Reduce false negatives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IN" sz="1900">
                <a:latin typeface="Arial"/>
                <a:ea typeface="Arial"/>
                <a:cs typeface="Arial"/>
                <a:sym typeface="Arial"/>
              </a:rPr>
              <a:t>Improve feature engineering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IN" sz="1900">
                <a:latin typeface="Arial"/>
                <a:ea typeface="Arial"/>
                <a:cs typeface="Arial"/>
                <a:sym typeface="Arial"/>
              </a:rPr>
              <a:t>Add real-time monitoring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Phase-2 Deliverables</a:t>
            </a:r>
            <a:endParaRPr/>
          </a:p>
        </p:txBody>
      </p:sp>
      <p:sp>
        <p:nvSpPr>
          <p:cNvPr id="205" name="Google Shape;205;p16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/>
              <a:t>Deliverable 1</a:t>
            </a:r>
            <a:r>
              <a:rPr lang="en-IN"/>
              <a:t>: Cleaned dataset </a:t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00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/>
              <a:t>Deliverable 2: </a:t>
            </a:r>
            <a:r>
              <a:rPr lang="en-IN"/>
              <a:t>Jupyter Notebook 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0050" lvl="0" marL="3429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/>
              <a:t>Deliverable 3: </a:t>
            </a:r>
            <a:r>
              <a:rPr lang="en-IN"/>
              <a:t>Code Repository (GitHub)</a:t>
            </a:r>
            <a:endParaRPr/>
          </a:p>
          <a:p>
            <a:pPr indent="0" lvl="0" marL="3429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IN"/>
              <a:t>https://github.com/angelxavier905/AIML_ML-Lab/tree/main/ML_Mini</a:t>
            </a:r>
            <a:endParaRPr/>
          </a:p>
          <a:p>
            <a:pPr indent="0" lvl="0" marL="742950" rtl="0" algn="l">
              <a:spcBef>
                <a:spcPts val="2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0050" lvl="0" marL="3429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/>
              <a:t>Deliverable 4: </a:t>
            </a:r>
            <a:r>
              <a:rPr lang="en-IN"/>
              <a:t>System Integration Proof</a:t>
            </a:r>
            <a:endParaRPr/>
          </a:p>
          <a:p>
            <a:pPr indent="0" lvl="0" marL="0" rtl="0" algn="l">
              <a:spcBef>
                <a:spcPts val="2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 sz="3200"/>
              <a:t>References</a:t>
            </a:r>
            <a:endParaRPr/>
          </a:p>
        </p:txBody>
      </p:sp>
      <p:sp>
        <p:nvSpPr>
          <p:cNvPr id="211" name="Google Shape;211;p17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Kaggle Dataset: Predict Students’ Dropout and Academic Success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Villar &amp; Andrade (2024) – Discover AI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Marcolino et al. (2025) – Scientific Reports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Cho et al. (2023) – Applied Sciences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Kim et al. (2023) – Applied Sciences  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